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59" r:id="rId6"/>
    <p:sldId id="264" r:id="rId7"/>
    <p:sldId id="265" r:id="rId8"/>
    <p:sldId id="266" r:id="rId9"/>
    <p:sldId id="267" r:id="rId10"/>
    <p:sldId id="268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82"/>
  </p:normalViewPr>
  <p:slideViewPr>
    <p:cSldViewPr snapToGrid="0">
      <p:cViewPr>
        <p:scale>
          <a:sx n="113" d="100"/>
          <a:sy n="113" d="100"/>
        </p:scale>
        <p:origin x="31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1.svg"/><Relationship Id="rId4" Type="http://schemas.openxmlformats.org/officeDocument/2006/relationships/image" Target="../media/image17.svg"/><Relationship Id="rId9" Type="http://schemas.openxmlformats.org/officeDocument/2006/relationships/image" Target="../media/image2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1.svg"/><Relationship Id="rId4" Type="http://schemas.openxmlformats.org/officeDocument/2006/relationships/image" Target="../media/image17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818036-899E-4138-A3BD-83AE15390DB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D3C6BD-9C28-47BA-9070-4E6ED839D121}">
      <dgm:prSet/>
      <dgm:spPr/>
      <dgm:t>
        <a:bodyPr/>
        <a:lstStyle/>
        <a:p>
          <a:r>
            <a:rPr lang="en-US" b="0" i="0" baseline="0"/>
            <a:t>Understand how algorithm design and tuning impact RL performance in Frogger</a:t>
          </a:r>
          <a:endParaRPr lang="en-US"/>
        </a:p>
      </dgm:t>
    </dgm:pt>
    <dgm:pt modelId="{F0B76E88-7D4D-4F4A-893F-06DAA8368360}" type="parTrans" cxnId="{E708E4FE-DB58-4D22-BC8B-D8BC5DBE9CDE}">
      <dgm:prSet/>
      <dgm:spPr/>
      <dgm:t>
        <a:bodyPr/>
        <a:lstStyle/>
        <a:p>
          <a:endParaRPr lang="en-US"/>
        </a:p>
      </dgm:t>
    </dgm:pt>
    <dgm:pt modelId="{1BA40957-33A0-46DA-B227-4C2B6203739C}" type="sibTrans" cxnId="{E708E4FE-DB58-4D22-BC8B-D8BC5DBE9CDE}">
      <dgm:prSet/>
      <dgm:spPr/>
      <dgm:t>
        <a:bodyPr/>
        <a:lstStyle/>
        <a:p>
          <a:endParaRPr lang="en-US"/>
        </a:p>
      </dgm:t>
    </dgm:pt>
    <dgm:pt modelId="{2F55F19A-DCAF-491A-84EC-3739EA9A63EC}">
      <dgm:prSet/>
      <dgm:spPr/>
      <dgm:t>
        <a:bodyPr/>
        <a:lstStyle/>
        <a:p>
          <a:r>
            <a:rPr lang="en-US" b="0" i="0" baseline="0"/>
            <a:t>Implement a baseline DQN and improve it using Double DQN (DDQN)</a:t>
          </a:r>
          <a:endParaRPr lang="en-US"/>
        </a:p>
      </dgm:t>
    </dgm:pt>
    <dgm:pt modelId="{6EA6D262-2B98-4FB7-AACF-B8A350F53130}" type="parTrans" cxnId="{40781BBC-49B2-4B07-BC3A-FEC0AE4FAF63}">
      <dgm:prSet/>
      <dgm:spPr/>
      <dgm:t>
        <a:bodyPr/>
        <a:lstStyle/>
        <a:p>
          <a:endParaRPr lang="en-US"/>
        </a:p>
      </dgm:t>
    </dgm:pt>
    <dgm:pt modelId="{13F2519E-60DC-4895-A3FC-7542DEA7E0AD}" type="sibTrans" cxnId="{40781BBC-49B2-4B07-BC3A-FEC0AE4FAF63}">
      <dgm:prSet/>
      <dgm:spPr/>
      <dgm:t>
        <a:bodyPr/>
        <a:lstStyle/>
        <a:p>
          <a:endParaRPr lang="en-US"/>
        </a:p>
      </dgm:t>
    </dgm:pt>
    <dgm:pt modelId="{6BFEBA8F-8291-4342-9584-FAD3FE22D5A8}">
      <dgm:prSet/>
      <dgm:spPr/>
      <dgm:t>
        <a:bodyPr/>
        <a:lstStyle/>
        <a:p>
          <a:r>
            <a:rPr lang="en-US" b="0" i="0" baseline="0"/>
            <a:t>Test 6 different training configurations to measure performance changes</a:t>
          </a:r>
          <a:endParaRPr lang="en-US"/>
        </a:p>
      </dgm:t>
    </dgm:pt>
    <dgm:pt modelId="{77F209CC-7984-49A8-BC6D-B91A641AE165}" type="parTrans" cxnId="{434B8416-F6FB-4A39-B474-5AB3BC626968}">
      <dgm:prSet/>
      <dgm:spPr/>
      <dgm:t>
        <a:bodyPr/>
        <a:lstStyle/>
        <a:p>
          <a:endParaRPr lang="en-US"/>
        </a:p>
      </dgm:t>
    </dgm:pt>
    <dgm:pt modelId="{A28B1532-E07D-4144-86BE-67B2C0739DAA}" type="sibTrans" cxnId="{434B8416-F6FB-4A39-B474-5AB3BC626968}">
      <dgm:prSet/>
      <dgm:spPr/>
      <dgm:t>
        <a:bodyPr/>
        <a:lstStyle/>
        <a:p>
          <a:endParaRPr lang="en-US"/>
        </a:p>
      </dgm:t>
    </dgm:pt>
    <dgm:pt modelId="{2277E338-B505-4FC3-BBD2-F8FCB1504E99}">
      <dgm:prSet/>
      <dgm:spPr/>
      <dgm:t>
        <a:bodyPr/>
        <a:lstStyle/>
        <a:p>
          <a:r>
            <a:rPr lang="en-US" b="0" i="0" baseline="0"/>
            <a:t>Evaluate progress using learning curves and final gameplay outcomes</a:t>
          </a:r>
          <a:endParaRPr lang="en-US"/>
        </a:p>
      </dgm:t>
    </dgm:pt>
    <dgm:pt modelId="{4887D3FA-1A8D-4F5D-9325-AC543BC5D560}" type="parTrans" cxnId="{2C0C6882-6897-41EE-86B0-39E63A60CB76}">
      <dgm:prSet/>
      <dgm:spPr/>
      <dgm:t>
        <a:bodyPr/>
        <a:lstStyle/>
        <a:p>
          <a:endParaRPr lang="en-US"/>
        </a:p>
      </dgm:t>
    </dgm:pt>
    <dgm:pt modelId="{B6F79C5C-F87C-4708-B04A-AE1300FBE8F1}" type="sibTrans" cxnId="{2C0C6882-6897-41EE-86B0-39E63A60CB76}">
      <dgm:prSet/>
      <dgm:spPr/>
      <dgm:t>
        <a:bodyPr/>
        <a:lstStyle/>
        <a:p>
          <a:endParaRPr lang="en-US"/>
        </a:p>
      </dgm:t>
    </dgm:pt>
    <dgm:pt modelId="{CACD5129-5B61-4181-8149-D90A7A53C287}" type="pres">
      <dgm:prSet presAssocID="{5D818036-899E-4138-A3BD-83AE15390DB5}" presName="root" presStyleCnt="0">
        <dgm:presLayoutVars>
          <dgm:dir/>
          <dgm:resizeHandles val="exact"/>
        </dgm:presLayoutVars>
      </dgm:prSet>
      <dgm:spPr/>
    </dgm:pt>
    <dgm:pt modelId="{9AA08A23-69B3-430C-ADF9-EC89A1D81B9B}" type="pres">
      <dgm:prSet presAssocID="{59D3C6BD-9C28-47BA-9070-4E6ED839D121}" presName="compNode" presStyleCnt="0"/>
      <dgm:spPr/>
    </dgm:pt>
    <dgm:pt modelId="{BC86DF04-9BE9-48AF-B2A7-427AF2BC6675}" type="pres">
      <dgm:prSet presAssocID="{59D3C6BD-9C28-47BA-9070-4E6ED839D12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4E35ACE-87EE-48B2-BBAA-D351DFE9FF02}" type="pres">
      <dgm:prSet presAssocID="{59D3C6BD-9C28-47BA-9070-4E6ED839D121}" presName="spaceRect" presStyleCnt="0"/>
      <dgm:spPr/>
    </dgm:pt>
    <dgm:pt modelId="{739A06E8-D09A-46BC-9DBD-28195AA80CE8}" type="pres">
      <dgm:prSet presAssocID="{59D3C6BD-9C28-47BA-9070-4E6ED839D121}" presName="textRect" presStyleLbl="revTx" presStyleIdx="0" presStyleCnt="4">
        <dgm:presLayoutVars>
          <dgm:chMax val="1"/>
          <dgm:chPref val="1"/>
        </dgm:presLayoutVars>
      </dgm:prSet>
      <dgm:spPr/>
    </dgm:pt>
    <dgm:pt modelId="{6179B347-DF42-46E3-9A3E-4AE95E940521}" type="pres">
      <dgm:prSet presAssocID="{1BA40957-33A0-46DA-B227-4C2B6203739C}" presName="sibTrans" presStyleCnt="0"/>
      <dgm:spPr/>
    </dgm:pt>
    <dgm:pt modelId="{65D077D7-1A27-4961-AC34-2D6350180093}" type="pres">
      <dgm:prSet presAssocID="{2F55F19A-DCAF-491A-84EC-3739EA9A63EC}" presName="compNode" presStyleCnt="0"/>
      <dgm:spPr/>
    </dgm:pt>
    <dgm:pt modelId="{56A62586-E96C-4572-B74F-3DF92146FA95}" type="pres">
      <dgm:prSet presAssocID="{2F55F19A-DCAF-491A-84EC-3739EA9A63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turn"/>
        </a:ext>
      </dgm:extLst>
    </dgm:pt>
    <dgm:pt modelId="{F72EED62-4A04-4606-AB4C-71C115585C4B}" type="pres">
      <dgm:prSet presAssocID="{2F55F19A-DCAF-491A-84EC-3739EA9A63EC}" presName="spaceRect" presStyleCnt="0"/>
      <dgm:spPr/>
    </dgm:pt>
    <dgm:pt modelId="{84094778-4606-41B0-97E0-D7518B7F45FC}" type="pres">
      <dgm:prSet presAssocID="{2F55F19A-DCAF-491A-84EC-3739EA9A63EC}" presName="textRect" presStyleLbl="revTx" presStyleIdx="1" presStyleCnt="4">
        <dgm:presLayoutVars>
          <dgm:chMax val="1"/>
          <dgm:chPref val="1"/>
        </dgm:presLayoutVars>
      </dgm:prSet>
      <dgm:spPr/>
    </dgm:pt>
    <dgm:pt modelId="{4B976AC9-7B8A-47E4-A176-6E8191BC3B9B}" type="pres">
      <dgm:prSet presAssocID="{13F2519E-60DC-4895-A3FC-7542DEA7E0AD}" presName="sibTrans" presStyleCnt="0"/>
      <dgm:spPr/>
    </dgm:pt>
    <dgm:pt modelId="{4491560B-068D-4EE4-81F9-760E72EBA1BC}" type="pres">
      <dgm:prSet presAssocID="{6BFEBA8F-8291-4342-9584-FAD3FE22D5A8}" presName="compNode" presStyleCnt="0"/>
      <dgm:spPr/>
    </dgm:pt>
    <dgm:pt modelId="{F9FA6C9C-09C4-43FA-9E9F-1533413DF6D7}" type="pres">
      <dgm:prSet presAssocID="{6BFEBA8F-8291-4342-9584-FAD3FE22D5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F854E3F-7764-49ED-B186-55D2B96B2B9F}" type="pres">
      <dgm:prSet presAssocID="{6BFEBA8F-8291-4342-9584-FAD3FE22D5A8}" presName="spaceRect" presStyleCnt="0"/>
      <dgm:spPr/>
    </dgm:pt>
    <dgm:pt modelId="{5C525692-C135-4748-AC93-C7093AD6343D}" type="pres">
      <dgm:prSet presAssocID="{6BFEBA8F-8291-4342-9584-FAD3FE22D5A8}" presName="textRect" presStyleLbl="revTx" presStyleIdx="2" presStyleCnt="4">
        <dgm:presLayoutVars>
          <dgm:chMax val="1"/>
          <dgm:chPref val="1"/>
        </dgm:presLayoutVars>
      </dgm:prSet>
      <dgm:spPr/>
    </dgm:pt>
    <dgm:pt modelId="{916DA310-B536-4C5B-ACE3-A663D425A2D2}" type="pres">
      <dgm:prSet presAssocID="{A28B1532-E07D-4144-86BE-67B2C0739DAA}" presName="sibTrans" presStyleCnt="0"/>
      <dgm:spPr/>
    </dgm:pt>
    <dgm:pt modelId="{7A1ADFDC-4C7A-4A05-A9AA-34FC18478806}" type="pres">
      <dgm:prSet presAssocID="{2277E338-B505-4FC3-BBD2-F8FCB1504E99}" presName="compNode" presStyleCnt="0"/>
      <dgm:spPr/>
    </dgm:pt>
    <dgm:pt modelId="{C63FE916-45D3-4985-A8CB-C1D416DC8CE9}" type="pres">
      <dgm:prSet presAssocID="{2277E338-B505-4FC3-BBD2-F8FCB1504E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C31CD8F-4E1A-4105-9137-9F019800B34A}" type="pres">
      <dgm:prSet presAssocID="{2277E338-B505-4FC3-BBD2-F8FCB1504E99}" presName="spaceRect" presStyleCnt="0"/>
      <dgm:spPr/>
    </dgm:pt>
    <dgm:pt modelId="{F1889843-ACA0-4A83-A3A8-0D8E97B512B7}" type="pres">
      <dgm:prSet presAssocID="{2277E338-B505-4FC3-BBD2-F8FCB1504E9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34B8416-F6FB-4A39-B474-5AB3BC626968}" srcId="{5D818036-899E-4138-A3BD-83AE15390DB5}" destId="{6BFEBA8F-8291-4342-9584-FAD3FE22D5A8}" srcOrd="2" destOrd="0" parTransId="{77F209CC-7984-49A8-BC6D-B91A641AE165}" sibTransId="{A28B1532-E07D-4144-86BE-67B2C0739DAA}"/>
    <dgm:cxn modelId="{4272212D-2986-48EA-9C02-A98F235CD15B}" type="presOf" srcId="{2F55F19A-DCAF-491A-84EC-3739EA9A63EC}" destId="{84094778-4606-41B0-97E0-D7518B7F45FC}" srcOrd="0" destOrd="0" presId="urn:microsoft.com/office/officeart/2018/2/layout/IconLabelList"/>
    <dgm:cxn modelId="{AD114F78-60BA-4E56-B489-EB4C7EF22918}" type="presOf" srcId="{2277E338-B505-4FC3-BBD2-F8FCB1504E99}" destId="{F1889843-ACA0-4A83-A3A8-0D8E97B512B7}" srcOrd="0" destOrd="0" presId="urn:microsoft.com/office/officeart/2018/2/layout/IconLabelList"/>
    <dgm:cxn modelId="{2C0C6882-6897-41EE-86B0-39E63A60CB76}" srcId="{5D818036-899E-4138-A3BD-83AE15390DB5}" destId="{2277E338-B505-4FC3-BBD2-F8FCB1504E99}" srcOrd="3" destOrd="0" parTransId="{4887D3FA-1A8D-4F5D-9325-AC543BC5D560}" sibTransId="{B6F79C5C-F87C-4708-B04A-AE1300FBE8F1}"/>
    <dgm:cxn modelId="{8B0CFA8D-8930-4452-A854-856C16534655}" type="presOf" srcId="{6BFEBA8F-8291-4342-9584-FAD3FE22D5A8}" destId="{5C525692-C135-4748-AC93-C7093AD6343D}" srcOrd="0" destOrd="0" presId="urn:microsoft.com/office/officeart/2018/2/layout/IconLabelList"/>
    <dgm:cxn modelId="{40781BBC-49B2-4B07-BC3A-FEC0AE4FAF63}" srcId="{5D818036-899E-4138-A3BD-83AE15390DB5}" destId="{2F55F19A-DCAF-491A-84EC-3739EA9A63EC}" srcOrd="1" destOrd="0" parTransId="{6EA6D262-2B98-4FB7-AACF-B8A350F53130}" sibTransId="{13F2519E-60DC-4895-A3FC-7542DEA7E0AD}"/>
    <dgm:cxn modelId="{F6EBC7BC-A3E3-44A8-9F50-ACDEBE11B1E2}" type="presOf" srcId="{59D3C6BD-9C28-47BA-9070-4E6ED839D121}" destId="{739A06E8-D09A-46BC-9DBD-28195AA80CE8}" srcOrd="0" destOrd="0" presId="urn:microsoft.com/office/officeart/2018/2/layout/IconLabelList"/>
    <dgm:cxn modelId="{4BFB07FC-6B98-4EF2-BDC9-0FB4B0991E87}" type="presOf" srcId="{5D818036-899E-4138-A3BD-83AE15390DB5}" destId="{CACD5129-5B61-4181-8149-D90A7A53C287}" srcOrd="0" destOrd="0" presId="urn:microsoft.com/office/officeart/2018/2/layout/IconLabelList"/>
    <dgm:cxn modelId="{E708E4FE-DB58-4D22-BC8B-D8BC5DBE9CDE}" srcId="{5D818036-899E-4138-A3BD-83AE15390DB5}" destId="{59D3C6BD-9C28-47BA-9070-4E6ED839D121}" srcOrd="0" destOrd="0" parTransId="{F0B76E88-7D4D-4F4A-893F-06DAA8368360}" sibTransId="{1BA40957-33A0-46DA-B227-4C2B6203739C}"/>
    <dgm:cxn modelId="{63CF7D7A-3850-480F-B3BC-B7B95C82EF98}" type="presParOf" srcId="{CACD5129-5B61-4181-8149-D90A7A53C287}" destId="{9AA08A23-69B3-430C-ADF9-EC89A1D81B9B}" srcOrd="0" destOrd="0" presId="urn:microsoft.com/office/officeart/2018/2/layout/IconLabelList"/>
    <dgm:cxn modelId="{5C95954E-9AE5-4C5B-8C98-0D0C072AA565}" type="presParOf" srcId="{9AA08A23-69B3-430C-ADF9-EC89A1D81B9B}" destId="{BC86DF04-9BE9-48AF-B2A7-427AF2BC6675}" srcOrd="0" destOrd="0" presId="urn:microsoft.com/office/officeart/2018/2/layout/IconLabelList"/>
    <dgm:cxn modelId="{E64BB90A-A3C2-4304-B917-349005A5A894}" type="presParOf" srcId="{9AA08A23-69B3-430C-ADF9-EC89A1D81B9B}" destId="{04E35ACE-87EE-48B2-BBAA-D351DFE9FF02}" srcOrd="1" destOrd="0" presId="urn:microsoft.com/office/officeart/2018/2/layout/IconLabelList"/>
    <dgm:cxn modelId="{56A226EA-C670-4D98-920F-50EAADE22353}" type="presParOf" srcId="{9AA08A23-69B3-430C-ADF9-EC89A1D81B9B}" destId="{739A06E8-D09A-46BC-9DBD-28195AA80CE8}" srcOrd="2" destOrd="0" presId="urn:microsoft.com/office/officeart/2018/2/layout/IconLabelList"/>
    <dgm:cxn modelId="{6304CEDB-E92C-4D31-B270-9277E77971B9}" type="presParOf" srcId="{CACD5129-5B61-4181-8149-D90A7A53C287}" destId="{6179B347-DF42-46E3-9A3E-4AE95E940521}" srcOrd="1" destOrd="0" presId="urn:microsoft.com/office/officeart/2018/2/layout/IconLabelList"/>
    <dgm:cxn modelId="{48BE5188-9D1C-434E-849E-9196E3CA2C67}" type="presParOf" srcId="{CACD5129-5B61-4181-8149-D90A7A53C287}" destId="{65D077D7-1A27-4961-AC34-2D6350180093}" srcOrd="2" destOrd="0" presId="urn:microsoft.com/office/officeart/2018/2/layout/IconLabelList"/>
    <dgm:cxn modelId="{CB3C9076-9E48-4494-84C2-EAD84BDA9D1C}" type="presParOf" srcId="{65D077D7-1A27-4961-AC34-2D6350180093}" destId="{56A62586-E96C-4572-B74F-3DF92146FA95}" srcOrd="0" destOrd="0" presId="urn:microsoft.com/office/officeart/2018/2/layout/IconLabelList"/>
    <dgm:cxn modelId="{AA68F9B9-DA62-479F-A024-7666C2B9A477}" type="presParOf" srcId="{65D077D7-1A27-4961-AC34-2D6350180093}" destId="{F72EED62-4A04-4606-AB4C-71C115585C4B}" srcOrd="1" destOrd="0" presId="urn:microsoft.com/office/officeart/2018/2/layout/IconLabelList"/>
    <dgm:cxn modelId="{4E3B8E0E-406C-49E6-ABE0-3305070A045D}" type="presParOf" srcId="{65D077D7-1A27-4961-AC34-2D6350180093}" destId="{84094778-4606-41B0-97E0-D7518B7F45FC}" srcOrd="2" destOrd="0" presId="urn:microsoft.com/office/officeart/2018/2/layout/IconLabelList"/>
    <dgm:cxn modelId="{8BCECEB8-8070-4023-A1E8-171EF380CA17}" type="presParOf" srcId="{CACD5129-5B61-4181-8149-D90A7A53C287}" destId="{4B976AC9-7B8A-47E4-A176-6E8191BC3B9B}" srcOrd="3" destOrd="0" presId="urn:microsoft.com/office/officeart/2018/2/layout/IconLabelList"/>
    <dgm:cxn modelId="{6101A1C0-8629-41AE-840E-B884812A2AFF}" type="presParOf" srcId="{CACD5129-5B61-4181-8149-D90A7A53C287}" destId="{4491560B-068D-4EE4-81F9-760E72EBA1BC}" srcOrd="4" destOrd="0" presId="urn:microsoft.com/office/officeart/2018/2/layout/IconLabelList"/>
    <dgm:cxn modelId="{80FD9085-F861-4D5C-B215-207D3D69B9DC}" type="presParOf" srcId="{4491560B-068D-4EE4-81F9-760E72EBA1BC}" destId="{F9FA6C9C-09C4-43FA-9E9F-1533413DF6D7}" srcOrd="0" destOrd="0" presId="urn:microsoft.com/office/officeart/2018/2/layout/IconLabelList"/>
    <dgm:cxn modelId="{D5BEB280-1AB0-45D4-B9E1-8394223F696D}" type="presParOf" srcId="{4491560B-068D-4EE4-81F9-760E72EBA1BC}" destId="{CF854E3F-7764-49ED-B186-55D2B96B2B9F}" srcOrd="1" destOrd="0" presId="urn:microsoft.com/office/officeart/2018/2/layout/IconLabelList"/>
    <dgm:cxn modelId="{1A6A5E38-8094-4207-A05A-FF0807723CC1}" type="presParOf" srcId="{4491560B-068D-4EE4-81F9-760E72EBA1BC}" destId="{5C525692-C135-4748-AC93-C7093AD6343D}" srcOrd="2" destOrd="0" presId="urn:microsoft.com/office/officeart/2018/2/layout/IconLabelList"/>
    <dgm:cxn modelId="{79773EC0-5AE9-4FF4-82D6-CC0A8A5E7C81}" type="presParOf" srcId="{CACD5129-5B61-4181-8149-D90A7A53C287}" destId="{916DA310-B536-4C5B-ACE3-A663D425A2D2}" srcOrd="5" destOrd="0" presId="urn:microsoft.com/office/officeart/2018/2/layout/IconLabelList"/>
    <dgm:cxn modelId="{9EB45AB6-6FBF-43FA-919F-126FE701313D}" type="presParOf" srcId="{CACD5129-5B61-4181-8149-D90A7A53C287}" destId="{7A1ADFDC-4C7A-4A05-A9AA-34FC18478806}" srcOrd="6" destOrd="0" presId="urn:microsoft.com/office/officeart/2018/2/layout/IconLabelList"/>
    <dgm:cxn modelId="{C91544BF-B684-420B-B9C6-FD9420F6A29E}" type="presParOf" srcId="{7A1ADFDC-4C7A-4A05-A9AA-34FC18478806}" destId="{C63FE916-45D3-4985-A8CB-C1D416DC8CE9}" srcOrd="0" destOrd="0" presId="urn:microsoft.com/office/officeart/2018/2/layout/IconLabelList"/>
    <dgm:cxn modelId="{ACF4EF06-3173-4841-B2CB-2958556DC716}" type="presParOf" srcId="{7A1ADFDC-4C7A-4A05-A9AA-34FC18478806}" destId="{8C31CD8F-4E1A-4105-9137-9F019800B34A}" srcOrd="1" destOrd="0" presId="urn:microsoft.com/office/officeart/2018/2/layout/IconLabelList"/>
    <dgm:cxn modelId="{81815FB7-7484-45C8-A8F2-8C69C2B533A8}" type="presParOf" srcId="{7A1ADFDC-4C7A-4A05-A9AA-34FC18478806}" destId="{F1889843-ACA0-4A83-A3A8-0D8E97B512B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D11434-C87A-4848-B202-5529E435E81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B71CC2-D8CE-4B71-B596-74FEFF241344}">
      <dgm:prSet/>
      <dgm:spPr/>
      <dgm:t>
        <a:bodyPr/>
        <a:lstStyle/>
        <a:p>
          <a:r>
            <a:rPr lang="en-US"/>
            <a:t>Sparse rewards → agent only gets feedback when making forward progress</a:t>
          </a:r>
        </a:p>
      </dgm:t>
    </dgm:pt>
    <dgm:pt modelId="{E590F5C3-76B5-4CC3-A66D-BA93932B44AB}" type="parTrans" cxnId="{FC94F7BF-3783-4472-A16E-54C2B6162E93}">
      <dgm:prSet/>
      <dgm:spPr/>
      <dgm:t>
        <a:bodyPr/>
        <a:lstStyle/>
        <a:p>
          <a:endParaRPr lang="en-US"/>
        </a:p>
      </dgm:t>
    </dgm:pt>
    <dgm:pt modelId="{F0A34657-216D-4679-A9D0-445FFCA0B656}" type="sibTrans" cxnId="{FC94F7BF-3783-4472-A16E-54C2B6162E93}">
      <dgm:prSet/>
      <dgm:spPr/>
      <dgm:t>
        <a:bodyPr/>
        <a:lstStyle/>
        <a:p>
          <a:endParaRPr lang="en-US"/>
        </a:p>
      </dgm:t>
    </dgm:pt>
    <dgm:pt modelId="{293BA955-0722-4213-B4D5-1E41DB69A051}">
      <dgm:prSet/>
      <dgm:spPr/>
      <dgm:t>
        <a:bodyPr/>
        <a:lstStyle/>
        <a:p>
          <a:r>
            <a:rPr lang="en-US"/>
            <a:t>Requires </a:t>
          </a:r>
          <a:r>
            <a:rPr lang="en-US" b="1"/>
            <a:t>precise timing</a:t>
          </a:r>
          <a:r>
            <a:rPr lang="en-US"/>
            <a:t> to avoid cars, trucks, logs, and turtles</a:t>
          </a:r>
        </a:p>
      </dgm:t>
    </dgm:pt>
    <dgm:pt modelId="{2FB03667-46E9-4E31-A9EA-308B82DB7AE3}" type="parTrans" cxnId="{8D5E20C1-B2F7-4D2F-8A2B-5A8E42C72D47}">
      <dgm:prSet/>
      <dgm:spPr/>
      <dgm:t>
        <a:bodyPr/>
        <a:lstStyle/>
        <a:p>
          <a:endParaRPr lang="en-US"/>
        </a:p>
      </dgm:t>
    </dgm:pt>
    <dgm:pt modelId="{6DBCBBDD-9BC1-4A57-92DD-E24300319A11}" type="sibTrans" cxnId="{8D5E20C1-B2F7-4D2F-8A2B-5A8E42C72D47}">
      <dgm:prSet/>
      <dgm:spPr/>
      <dgm:t>
        <a:bodyPr/>
        <a:lstStyle/>
        <a:p>
          <a:endParaRPr lang="en-US"/>
        </a:p>
      </dgm:t>
    </dgm:pt>
    <dgm:pt modelId="{27FB3873-095A-4D71-B8E6-E4B88E0A85BD}">
      <dgm:prSet/>
      <dgm:spPr/>
      <dgm:t>
        <a:bodyPr/>
        <a:lstStyle/>
        <a:p>
          <a:r>
            <a:rPr lang="en-US"/>
            <a:t>Multiple failure modes: collisions, water, timeout</a:t>
          </a:r>
        </a:p>
      </dgm:t>
    </dgm:pt>
    <dgm:pt modelId="{B9BE1DD5-759C-4AEE-99A9-5E8C85DC0D70}" type="parTrans" cxnId="{934C27AC-946C-4A2E-9CB5-67B25BAAC902}">
      <dgm:prSet/>
      <dgm:spPr/>
      <dgm:t>
        <a:bodyPr/>
        <a:lstStyle/>
        <a:p>
          <a:endParaRPr lang="en-US"/>
        </a:p>
      </dgm:t>
    </dgm:pt>
    <dgm:pt modelId="{D7B1995B-5D33-4D7E-8BCC-6ADB5498251C}" type="sibTrans" cxnId="{934C27AC-946C-4A2E-9CB5-67B25BAAC902}">
      <dgm:prSet/>
      <dgm:spPr/>
      <dgm:t>
        <a:bodyPr/>
        <a:lstStyle/>
        <a:p>
          <a:endParaRPr lang="en-US"/>
        </a:p>
      </dgm:t>
    </dgm:pt>
    <dgm:pt modelId="{D68A1D38-33EF-4557-AD32-A54079D44197}">
      <dgm:prSet/>
      <dgm:spPr/>
      <dgm:t>
        <a:bodyPr/>
        <a:lstStyle/>
        <a:p>
          <a:r>
            <a:rPr lang="en-US"/>
            <a:t>Great environment to test how DQN handles </a:t>
          </a:r>
          <a:r>
            <a:rPr lang="en-US" b="1"/>
            <a:t>long sequences</a:t>
          </a:r>
          <a:r>
            <a:rPr lang="en-US"/>
            <a:t> and </a:t>
          </a:r>
          <a:r>
            <a:rPr lang="en-US" b="1"/>
            <a:t>delayed rewards</a:t>
          </a:r>
          <a:endParaRPr lang="en-US"/>
        </a:p>
      </dgm:t>
    </dgm:pt>
    <dgm:pt modelId="{383981D0-09D8-4AD5-84B5-B0DCE56EEC67}" type="parTrans" cxnId="{7906B468-FA41-4165-9F03-A4B85BEC247F}">
      <dgm:prSet/>
      <dgm:spPr/>
      <dgm:t>
        <a:bodyPr/>
        <a:lstStyle/>
        <a:p>
          <a:endParaRPr lang="en-US"/>
        </a:p>
      </dgm:t>
    </dgm:pt>
    <dgm:pt modelId="{7BA8B9DA-750E-41DB-8FE5-6E8F021936B1}" type="sibTrans" cxnId="{7906B468-FA41-4165-9F03-A4B85BEC247F}">
      <dgm:prSet/>
      <dgm:spPr/>
      <dgm:t>
        <a:bodyPr/>
        <a:lstStyle/>
        <a:p>
          <a:endParaRPr lang="en-US"/>
        </a:p>
      </dgm:t>
    </dgm:pt>
    <dgm:pt modelId="{C0DF0043-4772-5545-9B3F-71029C36AEB7}" type="pres">
      <dgm:prSet presAssocID="{2FD11434-C87A-4848-B202-5529E435E81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72648CC-767D-DD45-9839-F2608AEC3BF2}" type="pres">
      <dgm:prSet presAssocID="{18B71CC2-D8CE-4B71-B596-74FEFF241344}" presName="hierRoot1" presStyleCnt="0"/>
      <dgm:spPr/>
    </dgm:pt>
    <dgm:pt modelId="{0398DE30-45B3-8349-A85A-D95BCCB7D5B3}" type="pres">
      <dgm:prSet presAssocID="{18B71CC2-D8CE-4B71-B596-74FEFF241344}" presName="composite" presStyleCnt="0"/>
      <dgm:spPr/>
    </dgm:pt>
    <dgm:pt modelId="{57A7FECA-EA64-EE41-8C65-8B99323FCDD8}" type="pres">
      <dgm:prSet presAssocID="{18B71CC2-D8CE-4B71-B596-74FEFF241344}" presName="background" presStyleLbl="node0" presStyleIdx="0" presStyleCnt="4"/>
      <dgm:spPr/>
    </dgm:pt>
    <dgm:pt modelId="{A6C3C7D3-1D45-CF4A-8DBF-13C63A45E8AE}" type="pres">
      <dgm:prSet presAssocID="{18B71CC2-D8CE-4B71-B596-74FEFF241344}" presName="text" presStyleLbl="fgAcc0" presStyleIdx="0" presStyleCnt="4">
        <dgm:presLayoutVars>
          <dgm:chPref val="3"/>
        </dgm:presLayoutVars>
      </dgm:prSet>
      <dgm:spPr/>
    </dgm:pt>
    <dgm:pt modelId="{919F378B-E615-4E45-9874-9C87F4B65ED6}" type="pres">
      <dgm:prSet presAssocID="{18B71CC2-D8CE-4B71-B596-74FEFF241344}" presName="hierChild2" presStyleCnt="0"/>
      <dgm:spPr/>
    </dgm:pt>
    <dgm:pt modelId="{94430EFA-C74B-6246-8E4F-E7AB45BFF024}" type="pres">
      <dgm:prSet presAssocID="{293BA955-0722-4213-B4D5-1E41DB69A051}" presName="hierRoot1" presStyleCnt="0"/>
      <dgm:spPr/>
    </dgm:pt>
    <dgm:pt modelId="{83FCC455-2162-1540-ACF7-4064602041A7}" type="pres">
      <dgm:prSet presAssocID="{293BA955-0722-4213-B4D5-1E41DB69A051}" presName="composite" presStyleCnt="0"/>
      <dgm:spPr/>
    </dgm:pt>
    <dgm:pt modelId="{C4A25B40-7908-2345-95BC-EE79B5AB5021}" type="pres">
      <dgm:prSet presAssocID="{293BA955-0722-4213-B4D5-1E41DB69A051}" presName="background" presStyleLbl="node0" presStyleIdx="1" presStyleCnt="4"/>
      <dgm:spPr/>
    </dgm:pt>
    <dgm:pt modelId="{3CBD1B0D-8A3A-A84E-A957-9FA119CF058E}" type="pres">
      <dgm:prSet presAssocID="{293BA955-0722-4213-B4D5-1E41DB69A051}" presName="text" presStyleLbl="fgAcc0" presStyleIdx="1" presStyleCnt="4">
        <dgm:presLayoutVars>
          <dgm:chPref val="3"/>
        </dgm:presLayoutVars>
      </dgm:prSet>
      <dgm:spPr/>
    </dgm:pt>
    <dgm:pt modelId="{F44B2610-EEA7-9E43-8CAC-DD6B36A5AC3A}" type="pres">
      <dgm:prSet presAssocID="{293BA955-0722-4213-B4D5-1E41DB69A051}" presName="hierChild2" presStyleCnt="0"/>
      <dgm:spPr/>
    </dgm:pt>
    <dgm:pt modelId="{3A00AED7-F068-9A46-AC1A-796C73B49CA1}" type="pres">
      <dgm:prSet presAssocID="{27FB3873-095A-4D71-B8E6-E4B88E0A85BD}" presName="hierRoot1" presStyleCnt="0"/>
      <dgm:spPr/>
    </dgm:pt>
    <dgm:pt modelId="{6DD42AC0-2D6C-7549-A2F8-E8F6F5D30012}" type="pres">
      <dgm:prSet presAssocID="{27FB3873-095A-4D71-B8E6-E4B88E0A85BD}" presName="composite" presStyleCnt="0"/>
      <dgm:spPr/>
    </dgm:pt>
    <dgm:pt modelId="{B5D8C76F-F8CD-0D4E-ADC9-A4BD1EE92266}" type="pres">
      <dgm:prSet presAssocID="{27FB3873-095A-4D71-B8E6-E4B88E0A85BD}" presName="background" presStyleLbl="node0" presStyleIdx="2" presStyleCnt="4"/>
      <dgm:spPr/>
    </dgm:pt>
    <dgm:pt modelId="{C979E114-AFAE-2E4B-804E-F8FB349BED07}" type="pres">
      <dgm:prSet presAssocID="{27FB3873-095A-4D71-B8E6-E4B88E0A85BD}" presName="text" presStyleLbl="fgAcc0" presStyleIdx="2" presStyleCnt="4">
        <dgm:presLayoutVars>
          <dgm:chPref val="3"/>
        </dgm:presLayoutVars>
      </dgm:prSet>
      <dgm:spPr/>
    </dgm:pt>
    <dgm:pt modelId="{011F6DA5-8BB1-2D47-A575-DAAC086C2A92}" type="pres">
      <dgm:prSet presAssocID="{27FB3873-095A-4D71-B8E6-E4B88E0A85BD}" presName="hierChild2" presStyleCnt="0"/>
      <dgm:spPr/>
    </dgm:pt>
    <dgm:pt modelId="{1BB2B064-9DA4-8443-94B5-0B07F918689E}" type="pres">
      <dgm:prSet presAssocID="{D68A1D38-33EF-4557-AD32-A54079D44197}" presName="hierRoot1" presStyleCnt="0"/>
      <dgm:spPr/>
    </dgm:pt>
    <dgm:pt modelId="{4E998EA9-329D-9E45-A799-541463850B99}" type="pres">
      <dgm:prSet presAssocID="{D68A1D38-33EF-4557-AD32-A54079D44197}" presName="composite" presStyleCnt="0"/>
      <dgm:spPr/>
    </dgm:pt>
    <dgm:pt modelId="{3F70EFA9-EE42-A24F-9136-377E8BCA2778}" type="pres">
      <dgm:prSet presAssocID="{D68A1D38-33EF-4557-AD32-A54079D44197}" presName="background" presStyleLbl="node0" presStyleIdx="3" presStyleCnt="4"/>
      <dgm:spPr/>
    </dgm:pt>
    <dgm:pt modelId="{CE398D52-B1D6-5F48-9FEF-7ED4EFD93200}" type="pres">
      <dgm:prSet presAssocID="{D68A1D38-33EF-4557-AD32-A54079D44197}" presName="text" presStyleLbl="fgAcc0" presStyleIdx="3" presStyleCnt="4">
        <dgm:presLayoutVars>
          <dgm:chPref val="3"/>
        </dgm:presLayoutVars>
      </dgm:prSet>
      <dgm:spPr/>
    </dgm:pt>
    <dgm:pt modelId="{A750F26C-F756-C14B-95C2-6349B835BBD0}" type="pres">
      <dgm:prSet presAssocID="{D68A1D38-33EF-4557-AD32-A54079D44197}" presName="hierChild2" presStyleCnt="0"/>
      <dgm:spPr/>
    </dgm:pt>
  </dgm:ptLst>
  <dgm:cxnLst>
    <dgm:cxn modelId="{0E0F3A1A-454B-DF40-BCF9-65AFDA7DD8F7}" type="presOf" srcId="{293BA955-0722-4213-B4D5-1E41DB69A051}" destId="{3CBD1B0D-8A3A-A84E-A957-9FA119CF058E}" srcOrd="0" destOrd="0" presId="urn:microsoft.com/office/officeart/2005/8/layout/hierarchy1"/>
    <dgm:cxn modelId="{F1640923-58E8-874A-9A4D-FD75229BB97D}" type="presOf" srcId="{18B71CC2-D8CE-4B71-B596-74FEFF241344}" destId="{A6C3C7D3-1D45-CF4A-8DBF-13C63A45E8AE}" srcOrd="0" destOrd="0" presId="urn:microsoft.com/office/officeart/2005/8/layout/hierarchy1"/>
    <dgm:cxn modelId="{2947E62F-CD2B-704C-B2CD-224A52892FDD}" type="presOf" srcId="{27FB3873-095A-4D71-B8E6-E4B88E0A85BD}" destId="{C979E114-AFAE-2E4B-804E-F8FB349BED07}" srcOrd="0" destOrd="0" presId="urn:microsoft.com/office/officeart/2005/8/layout/hierarchy1"/>
    <dgm:cxn modelId="{7906B468-FA41-4165-9F03-A4B85BEC247F}" srcId="{2FD11434-C87A-4848-B202-5529E435E819}" destId="{D68A1D38-33EF-4557-AD32-A54079D44197}" srcOrd="3" destOrd="0" parTransId="{383981D0-09D8-4AD5-84B5-B0DCE56EEC67}" sibTransId="{7BA8B9DA-750E-41DB-8FE5-6E8F021936B1}"/>
    <dgm:cxn modelId="{934C27AC-946C-4A2E-9CB5-67B25BAAC902}" srcId="{2FD11434-C87A-4848-B202-5529E435E819}" destId="{27FB3873-095A-4D71-B8E6-E4B88E0A85BD}" srcOrd="2" destOrd="0" parTransId="{B9BE1DD5-759C-4AEE-99A9-5E8C85DC0D70}" sibTransId="{D7B1995B-5D33-4D7E-8BCC-6ADB5498251C}"/>
    <dgm:cxn modelId="{30B706B7-A144-3B44-9147-274F741652CF}" type="presOf" srcId="{2FD11434-C87A-4848-B202-5529E435E819}" destId="{C0DF0043-4772-5545-9B3F-71029C36AEB7}" srcOrd="0" destOrd="0" presId="urn:microsoft.com/office/officeart/2005/8/layout/hierarchy1"/>
    <dgm:cxn modelId="{FC94F7BF-3783-4472-A16E-54C2B6162E93}" srcId="{2FD11434-C87A-4848-B202-5529E435E819}" destId="{18B71CC2-D8CE-4B71-B596-74FEFF241344}" srcOrd="0" destOrd="0" parTransId="{E590F5C3-76B5-4CC3-A66D-BA93932B44AB}" sibTransId="{F0A34657-216D-4679-A9D0-445FFCA0B656}"/>
    <dgm:cxn modelId="{8D5E20C1-B2F7-4D2F-8A2B-5A8E42C72D47}" srcId="{2FD11434-C87A-4848-B202-5529E435E819}" destId="{293BA955-0722-4213-B4D5-1E41DB69A051}" srcOrd="1" destOrd="0" parTransId="{2FB03667-46E9-4E31-A9EA-308B82DB7AE3}" sibTransId="{6DBCBBDD-9BC1-4A57-92DD-E24300319A11}"/>
    <dgm:cxn modelId="{9D4DE7F4-9597-5540-902A-731E43BE119E}" type="presOf" srcId="{D68A1D38-33EF-4557-AD32-A54079D44197}" destId="{CE398D52-B1D6-5F48-9FEF-7ED4EFD93200}" srcOrd="0" destOrd="0" presId="urn:microsoft.com/office/officeart/2005/8/layout/hierarchy1"/>
    <dgm:cxn modelId="{C471B693-C4AC-9B40-8089-10665F45269B}" type="presParOf" srcId="{C0DF0043-4772-5545-9B3F-71029C36AEB7}" destId="{472648CC-767D-DD45-9839-F2608AEC3BF2}" srcOrd="0" destOrd="0" presId="urn:microsoft.com/office/officeart/2005/8/layout/hierarchy1"/>
    <dgm:cxn modelId="{D5DB70A8-0DBC-714C-843D-31A49736E7C2}" type="presParOf" srcId="{472648CC-767D-DD45-9839-F2608AEC3BF2}" destId="{0398DE30-45B3-8349-A85A-D95BCCB7D5B3}" srcOrd="0" destOrd="0" presId="urn:microsoft.com/office/officeart/2005/8/layout/hierarchy1"/>
    <dgm:cxn modelId="{6BD3BC10-28A0-044E-B747-B65B5219692A}" type="presParOf" srcId="{0398DE30-45B3-8349-A85A-D95BCCB7D5B3}" destId="{57A7FECA-EA64-EE41-8C65-8B99323FCDD8}" srcOrd="0" destOrd="0" presId="urn:microsoft.com/office/officeart/2005/8/layout/hierarchy1"/>
    <dgm:cxn modelId="{5E1731E5-8B31-3642-A330-F01D1FF78FCE}" type="presParOf" srcId="{0398DE30-45B3-8349-A85A-D95BCCB7D5B3}" destId="{A6C3C7D3-1D45-CF4A-8DBF-13C63A45E8AE}" srcOrd="1" destOrd="0" presId="urn:microsoft.com/office/officeart/2005/8/layout/hierarchy1"/>
    <dgm:cxn modelId="{F0F96546-0488-4445-A9A6-A829CA18F98A}" type="presParOf" srcId="{472648CC-767D-DD45-9839-F2608AEC3BF2}" destId="{919F378B-E615-4E45-9874-9C87F4B65ED6}" srcOrd="1" destOrd="0" presId="urn:microsoft.com/office/officeart/2005/8/layout/hierarchy1"/>
    <dgm:cxn modelId="{2BD3380A-D5B9-3946-9C30-85BEAA9BFB61}" type="presParOf" srcId="{C0DF0043-4772-5545-9B3F-71029C36AEB7}" destId="{94430EFA-C74B-6246-8E4F-E7AB45BFF024}" srcOrd="1" destOrd="0" presId="urn:microsoft.com/office/officeart/2005/8/layout/hierarchy1"/>
    <dgm:cxn modelId="{754EF9BB-EA2A-584D-BA41-F939F01AB1E5}" type="presParOf" srcId="{94430EFA-C74B-6246-8E4F-E7AB45BFF024}" destId="{83FCC455-2162-1540-ACF7-4064602041A7}" srcOrd="0" destOrd="0" presId="urn:microsoft.com/office/officeart/2005/8/layout/hierarchy1"/>
    <dgm:cxn modelId="{FC0C5723-14A0-DC4F-A24C-2585E922F2D1}" type="presParOf" srcId="{83FCC455-2162-1540-ACF7-4064602041A7}" destId="{C4A25B40-7908-2345-95BC-EE79B5AB5021}" srcOrd="0" destOrd="0" presId="urn:microsoft.com/office/officeart/2005/8/layout/hierarchy1"/>
    <dgm:cxn modelId="{B8A5EA3A-84B7-A34A-8187-2D80CD9BEBA9}" type="presParOf" srcId="{83FCC455-2162-1540-ACF7-4064602041A7}" destId="{3CBD1B0D-8A3A-A84E-A957-9FA119CF058E}" srcOrd="1" destOrd="0" presId="urn:microsoft.com/office/officeart/2005/8/layout/hierarchy1"/>
    <dgm:cxn modelId="{8C2215E4-80A3-9847-9439-5895479AF9C9}" type="presParOf" srcId="{94430EFA-C74B-6246-8E4F-E7AB45BFF024}" destId="{F44B2610-EEA7-9E43-8CAC-DD6B36A5AC3A}" srcOrd="1" destOrd="0" presId="urn:microsoft.com/office/officeart/2005/8/layout/hierarchy1"/>
    <dgm:cxn modelId="{3322CA39-7385-8648-9576-5FC125C8FA67}" type="presParOf" srcId="{C0DF0043-4772-5545-9B3F-71029C36AEB7}" destId="{3A00AED7-F068-9A46-AC1A-796C73B49CA1}" srcOrd="2" destOrd="0" presId="urn:microsoft.com/office/officeart/2005/8/layout/hierarchy1"/>
    <dgm:cxn modelId="{FA35520F-F0B1-B442-823D-0199894F00DB}" type="presParOf" srcId="{3A00AED7-F068-9A46-AC1A-796C73B49CA1}" destId="{6DD42AC0-2D6C-7549-A2F8-E8F6F5D30012}" srcOrd="0" destOrd="0" presId="urn:microsoft.com/office/officeart/2005/8/layout/hierarchy1"/>
    <dgm:cxn modelId="{0B7372BC-F449-1C40-9083-1A359D17EB6E}" type="presParOf" srcId="{6DD42AC0-2D6C-7549-A2F8-E8F6F5D30012}" destId="{B5D8C76F-F8CD-0D4E-ADC9-A4BD1EE92266}" srcOrd="0" destOrd="0" presId="urn:microsoft.com/office/officeart/2005/8/layout/hierarchy1"/>
    <dgm:cxn modelId="{3231A1FD-779B-F949-8141-64A4604E4CC9}" type="presParOf" srcId="{6DD42AC0-2D6C-7549-A2F8-E8F6F5D30012}" destId="{C979E114-AFAE-2E4B-804E-F8FB349BED07}" srcOrd="1" destOrd="0" presId="urn:microsoft.com/office/officeart/2005/8/layout/hierarchy1"/>
    <dgm:cxn modelId="{BEBB1066-BAFA-674D-B67D-37D4E7003FEF}" type="presParOf" srcId="{3A00AED7-F068-9A46-AC1A-796C73B49CA1}" destId="{011F6DA5-8BB1-2D47-A575-DAAC086C2A92}" srcOrd="1" destOrd="0" presId="urn:microsoft.com/office/officeart/2005/8/layout/hierarchy1"/>
    <dgm:cxn modelId="{5134F050-D0F8-EC47-9693-C0518C7D13CE}" type="presParOf" srcId="{C0DF0043-4772-5545-9B3F-71029C36AEB7}" destId="{1BB2B064-9DA4-8443-94B5-0B07F918689E}" srcOrd="3" destOrd="0" presId="urn:microsoft.com/office/officeart/2005/8/layout/hierarchy1"/>
    <dgm:cxn modelId="{522D2790-96A7-9B4E-A028-E96235F88ACB}" type="presParOf" srcId="{1BB2B064-9DA4-8443-94B5-0B07F918689E}" destId="{4E998EA9-329D-9E45-A799-541463850B99}" srcOrd="0" destOrd="0" presId="urn:microsoft.com/office/officeart/2005/8/layout/hierarchy1"/>
    <dgm:cxn modelId="{9FD77FF0-D185-3E42-BCE9-D9D4CC602E47}" type="presParOf" srcId="{4E998EA9-329D-9E45-A799-541463850B99}" destId="{3F70EFA9-EE42-A24F-9136-377E8BCA2778}" srcOrd="0" destOrd="0" presId="urn:microsoft.com/office/officeart/2005/8/layout/hierarchy1"/>
    <dgm:cxn modelId="{2E22FCBE-BDDE-6B47-874B-70D2CC1E522F}" type="presParOf" srcId="{4E998EA9-329D-9E45-A799-541463850B99}" destId="{CE398D52-B1D6-5F48-9FEF-7ED4EFD93200}" srcOrd="1" destOrd="0" presId="urn:microsoft.com/office/officeart/2005/8/layout/hierarchy1"/>
    <dgm:cxn modelId="{817EF021-C829-ED4C-9FAD-BF5EDA2C2A27}" type="presParOf" srcId="{1BB2B064-9DA4-8443-94B5-0B07F918689E}" destId="{A750F26C-F756-C14B-95C2-6349B835BBD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C27AE0-B278-47C1-B001-070CDC3D774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71996822-A089-4ED8-A8A1-A1A774657219}">
      <dgm:prSet/>
      <dgm:spPr/>
      <dgm:t>
        <a:bodyPr/>
        <a:lstStyle/>
        <a:p>
          <a:r>
            <a:rPr lang="en-US" b="1"/>
            <a:t>Double DQN significantly improved performance</a:t>
          </a:r>
          <a:r>
            <a:rPr lang="en-US"/>
            <a:t> by reducing Q-value overestimation</a:t>
          </a:r>
        </a:p>
      </dgm:t>
    </dgm:pt>
    <dgm:pt modelId="{387C4BE9-4300-4E0B-A808-6C34E1924791}" type="parTrans" cxnId="{CCBA91CB-338F-479B-8BD7-4C0A9D93ED94}">
      <dgm:prSet/>
      <dgm:spPr/>
      <dgm:t>
        <a:bodyPr/>
        <a:lstStyle/>
        <a:p>
          <a:endParaRPr lang="en-US"/>
        </a:p>
      </dgm:t>
    </dgm:pt>
    <dgm:pt modelId="{4878ADC0-3908-4048-B719-A9D8A8C90951}" type="sibTrans" cxnId="{CCBA91CB-338F-479B-8BD7-4C0A9D93ED94}">
      <dgm:prSet/>
      <dgm:spPr/>
      <dgm:t>
        <a:bodyPr/>
        <a:lstStyle/>
        <a:p>
          <a:endParaRPr lang="en-US"/>
        </a:p>
      </dgm:t>
    </dgm:pt>
    <dgm:pt modelId="{DC27332F-65D3-4A40-95BB-1A708E620789}">
      <dgm:prSet/>
      <dgm:spPr/>
      <dgm:t>
        <a:bodyPr/>
        <a:lstStyle/>
        <a:p>
          <a:r>
            <a:rPr lang="en-US" b="1"/>
            <a:t>Bigger Replay Buffer (30k)</a:t>
          </a:r>
          <a:r>
            <a:rPr lang="en-US"/>
            <a:t> enabled better long-term learning from diverse experiences</a:t>
          </a:r>
        </a:p>
      </dgm:t>
    </dgm:pt>
    <dgm:pt modelId="{6E0AB4B5-43AC-4F70-A268-793C05296F0C}" type="parTrans" cxnId="{61C05091-B335-4EAB-8F87-24F5877FBC54}">
      <dgm:prSet/>
      <dgm:spPr/>
      <dgm:t>
        <a:bodyPr/>
        <a:lstStyle/>
        <a:p>
          <a:endParaRPr lang="en-US"/>
        </a:p>
      </dgm:t>
    </dgm:pt>
    <dgm:pt modelId="{53403569-1D69-450F-98FC-06DFAC7F142C}" type="sibTrans" cxnId="{61C05091-B335-4EAB-8F87-24F5877FBC54}">
      <dgm:prSet/>
      <dgm:spPr/>
      <dgm:t>
        <a:bodyPr/>
        <a:lstStyle/>
        <a:p>
          <a:endParaRPr lang="en-US"/>
        </a:p>
      </dgm:t>
    </dgm:pt>
    <dgm:pt modelId="{7189AA53-5251-486E-84C7-143CB22E2C68}">
      <dgm:prSet/>
      <dgm:spPr/>
      <dgm:t>
        <a:bodyPr/>
        <a:lstStyle/>
        <a:p>
          <a:r>
            <a:rPr lang="en-US" b="1"/>
            <a:t>High exploration (300k decay)</a:t>
          </a:r>
          <a:r>
            <a:rPr lang="en-US"/>
            <a:t> slowed early progress and hurt final reward</a:t>
          </a:r>
        </a:p>
      </dgm:t>
    </dgm:pt>
    <dgm:pt modelId="{650C0B19-8359-4A29-BC4B-BDA39B63DFAA}" type="parTrans" cxnId="{F4183972-0DD4-4B24-8F03-AA5FC813851D}">
      <dgm:prSet/>
      <dgm:spPr/>
      <dgm:t>
        <a:bodyPr/>
        <a:lstStyle/>
        <a:p>
          <a:endParaRPr lang="en-US"/>
        </a:p>
      </dgm:t>
    </dgm:pt>
    <dgm:pt modelId="{49AE8FFC-F407-4BE3-95F3-520D5C6C7C15}" type="sibTrans" cxnId="{F4183972-0DD4-4B24-8F03-AA5FC813851D}">
      <dgm:prSet/>
      <dgm:spPr/>
      <dgm:t>
        <a:bodyPr/>
        <a:lstStyle/>
        <a:p>
          <a:endParaRPr lang="en-US"/>
        </a:p>
      </dgm:t>
    </dgm:pt>
    <dgm:pt modelId="{2DD03DDD-2317-4744-88D1-7B62AC12CCD0}">
      <dgm:prSet/>
      <dgm:spPr/>
      <dgm:t>
        <a:bodyPr/>
        <a:lstStyle/>
        <a:p>
          <a:r>
            <a:rPr lang="en-US" b="1"/>
            <a:t>Sparse rewards</a:t>
          </a:r>
          <a:r>
            <a:rPr lang="en-US"/>
            <a:t> made early learning difficult, but model improved once rewards were reached</a:t>
          </a:r>
        </a:p>
      </dgm:t>
    </dgm:pt>
    <dgm:pt modelId="{AEAECAE8-36CA-4B61-AAA5-F243EE9174BC}" type="parTrans" cxnId="{C57AD863-6B9E-4492-83B4-DEDA0BB82744}">
      <dgm:prSet/>
      <dgm:spPr/>
      <dgm:t>
        <a:bodyPr/>
        <a:lstStyle/>
        <a:p>
          <a:endParaRPr lang="en-US"/>
        </a:p>
      </dgm:t>
    </dgm:pt>
    <dgm:pt modelId="{8B09F34F-70A0-4B11-8604-94341AF77211}" type="sibTrans" cxnId="{C57AD863-6B9E-4492-83B4-DEDA0BB82744}">
      <dgm:prSet/>
      <dgm:spPr/>
      <dgm:t>
        <a:bodyPr/>
        <a:lstStyle/>
        <a:p>
          <a:endParaRPr lang="en-US"/>
        </a:p>
      </dgm:t>
    </dgm:pt>
    <dgm:pt modelId="{7780C223-22BC-4D94-A78F-B1C6E25BA804}">
      <dgm:prSet/>
      <dgm:spPr/>
      <dgm:t>
        <a:bodyPr/>
        <a:lstStyle/>
        <a:p>
          <a:r>
            <a:rPr lang="en-US" b="1"/>
            <a:t>Credit assignment is challenging</a:t>
          </a:r>
          <a:r>
            <a:rPr lang="en-US"/>
            <a:t> because Frogger requires long action sequences</a:t>
          </a:r>
        </a:p>
      </dgm:t>
    </dgm:pt>
    <dgm:pt modelId="{EFC4D3F7-42A0-4BF3-8AC6-372D48B04818}" type="parTrans" cxnId="{FF6EDEA0-08C3-477E-A2AD-FED827D7F456}">
      <dgm:prSet/>
      <dgm:spPr/>
      <dgm:t>
        <a:bodyPr/>
        <a:lstStyle/>
        <a:p>
          <a:endParaRPr lang="en-US"/>
        </a:p>
      </dgm:t>
    </dgm:pt>
    <dgm:pt modelId="{D90A0592-1BB1-4B21-A2AA-393325AD7AF8}" type="sibTrans" cxnId="{FF6EDEA0-08C3-477E-A2AD-FED827D7F456}">
      <dgm:prSet/>
      <dgm:spPr/>
      <dgm:t>
        <a:bodyPr/>
        <a:lstStyle/>
        <a:p>
          <a:endParaRPr lang="en-US"/>
        </a:p>
      </dgm:t>
    </dgm:pt>
    <dgm:pt modelId="{7F8A40AE-9218-4E9B-A062-B03605ED5DDA}" type="pres">
      <dgm:prSet presAssocID="{C4C27AE0-B278-47C1-B001-070CDC3D7744}" presName="root" presStyleCnt="0">
        <dgm:presLayoutVars>
          <dgm:dir/>
          <dgm:resizeHandles val="exact"/>
        </dgm:presLayoutVars>
      </dgm:prSet>
      <dgm:spPr/>
    </dgm:pt>
    <dgm:pt modelId="{4E2ABC37-31BD-46E8-B4F8-73526521D84E}" type="pres">
      <dgm:prSet presAssocID="{71996822-A089-4ED8-A8A1-A1A774657219}" presName="compNode" presStyleCnt="0"/>
      <dgm:spPr/>
    </dgm:pt>
    <dgm:pt modelId="{C4D0D7A6-68B2-4A6F-95F3-49FD704F8227}" type="pres">
      <dgm:prSet presAssocID="{71996822-A089-4ED8-A8A1-A1A774657219}" presName="bgRect" presStyleLbl="bgShp" presStyleIdx="0" presStyleCnt="5"/>
      <dgm:spPr/>
    </dgm:pt>
    <dgm:pt modelId="{6357E059-3101-452B-90EB-5B6C9C10C907}" type="pres">
      <dgm:prSet presAssocID="{71996822-A089-4ED8-A8A1-A1A77465721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E764B87-7799-487A-9B02-903BE511F5CE}" type="pres">
      <dgm:prSet presAssocID="{71996822-A089-4ED8-A8A1-A1A774657219}" presName="spaceRect" presStyleCnt="0"/>
      <dgm:spPr/>
    </dgm:pt>
    <dgm:pt modelId="{4EDDDF3C-1AF3-4BA9-9DFD-95F3C01F05D6}" type="pres">
      <dgm:prSet presAssocID="{71996822-A089-4ED8-A8A1-A1A774657219}" presName="parTx" presStyleLbl="revTx" presStyleIdx="0" presStyleCnt="5">
        <dgm:presLayoutVars>
          <dgm:chMax val="0"/>
          <dgm:chPref val="0"/>
        </dgm:presLayoutVars>
      </dgm:prSet>
      <dgm:spPr/>
    </dgm:pt>
    <dgm:pt modelId="{8E945D9A-7CA8-4F2C-855F-89DD3F42CF25}" type="pres">
      <dgm:prSet presAssocID="{4878ADC0-3908-4048-B719-A9D8A8C90951}" presName="sibTrans" presStyleCnt="0"/>
      <dgm:spPr/>
    </dgm:pt>
    <dgm:pt modelId="{3209B405-2B7D-44D5-B87B-CABF65C96F9F}" type="pres">
      <dgm:prSet presAssocID="{DC27332F-65D3-4A40-95BB-1A708E620789}" presName="compNode" presStyleCnt="0"/>
      <dgm:spPr/>
    </dgm:pt>
    <dgm:pt modelId="{830C7915-63F9-426E-85AD-2898CFA0E419}" type="pres">
      <dgm:prSet presAssocID="{DC27332F-65D3-4A40-95BB-1A708E620789}" presName="bgRect" presStyleLbl="bgShp" presStyleIdx="1" presStyleCnt="5"/>
      <dgm:spPr/>
    </dgm:pt>
    <dgm:pt modelId="{D1D29375-8BBA-424E-A4EF-8937E070E636}" type="pres">
      <dgm:prSet presAssocID="{DC27332F-65D3-4A40-95BB-1A708E62078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DC40C401-375C-4825-BC71-1F852B10F393}" type="pres">
      <dgm:prSet presAssocID="{DC27332F-65D3-4A40-95BB-1A708E620789}" presName="spaceRect" presStyleCnt="0"/>
      <dgm:spPr/>
    </dgm:pt>
    <dgm:pt modelId="{B047B2AD-9D46-497C-845B-849108557CBF}" type="pres">
      <dgm:prSet presAssocID="{DC27332F-65D3-4A40-95BB-1A708E620789}" presName="parTx" presStyleLbl="revTx" presStyleIdx="1" presStyleCnt="5">
        <dgm:presLayoutVars>
          <dgm:chMax val="0"/>
          <dgm:chPref val="0"/>
        </dgm:presLayoutVars>
      </dgm:prSet>
      <dgm:spPr/>
    </dgm:pt>
    <dgm:pt modelId="{4CBC7700-626F-4C24-86DA-4E2ABA921136}" type="pres">
      <dgm:prSet presAssocID="{53403569-1D69-450F-98FC-06DFAC7F142C}" presName="sibTrans" presStyleCnt="0"/>
      <dgm:spPr/>
    </dgm:pt>
    <dgm:pt modelId="{88A54E8A-26A4-42C6-90B9-29E9AA725C18}" type="pres">
      <dgm:prSet presAssocID="{7189AA53-5251-486E-84C7-143CB22E2C68}" presName="compNode" presStyleCnt="0"/>
      <dgm:spPr/>
    </dgm:pt>
    <dgm:pt modelId="{6CAF2AEF-6F2F-40C8-82CC-009FB6DC0AFE}" type="pres">
      <dgm:prSet presAssocID="{7189AA53-5251-486E-84C7-143CB22E2C68}" presName="bgRect" presStyleLbl="bgShp" presStyleIdx="2" presStyleCnt="5"/>
      <dgm:spPr/>
    </dgm:pt>
    <dgm:pt modelId="{71926CB6-3344-442A-B7BD-FF7A2B578DE4}" type="pres">
      <dgm:prSet presAssocID="{7189AA53-5251-486E-84C7-143CB22E2C6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terodactyl"/>
        </a:ext>
      </dgm:extLst>
    </dgm:pt>
    <dgm:pt modelId="{DF1AC2BB-6D83-49AC-8667-151E7DE6B471}" type="pres">
      <dgm:prSet presAssocID="{7189AA53-5251-486E-84C7-143CB22E2C68}" presName="spaceRect" presStyleCnt="0"/>
      <dgm:spPr/>
    </dgm:pt>
    <dgm:pt modelId="{1A4A94B8-F3D0-4B5C-A525-49717B314F6B}" type="pres">
      <dgm:prSet presAssocID="{7189AA53-5251-486E-84C7-143CB22E2C68}" presName="parTx" presStyleLbl="revTx" presStyleIdx="2" presStyleCnt="5">
        <dgm:presLayoutVars>
          <dgm:chMax val="0"/>
          <dgm:chPref val="0"/>
        </dgm:presLayoutVars>
      </dgm:prSet>
      <dgm:spPr/>
    </dgm:pt>
    <dgm:pt modelId="{7A4F4E7B-0D6A-4813-9FA4-B4740A03F79E}" type="pres">
      <dgm:prSet presAssocID="{49AE8FFC-F407-4BE3-95F3-520D5C6C7C15}" presName="sibTrans" presStyleCnt="0"/>
      <dgm:spPr/>
    </dgm:pt>
    <dgm:pt modelId="{6F964148-CF8D-4EBC-896B-1FF34A61D23B}" type="pres">
      <dgm:prSet presAssocID="{2DD03DDD-2317-4744-88D1-7B62AC12CCD0}" presName="compNode" presStyleCnt="0"/>
      <dgm:spPr/>
    </dgm:pt>
    <dgm:pt modelId="{592B7FB0-852E-40D8-A2CC-4A1A7FE22F28}" type="pres">
      <dgm:prSet presAssocID="{2DD03DDD-2317-4744-88D1-7B62AC12CCD0}" presName="bgRect" presStyleLbl="bgShp" presStyleIdx="3" presStyleCnt="5"/>
      <dgm:spPr/>
    </dgm:pt>
    <dgm:pt modelId="{E711EC62-00F7-4EEB-B6C0-A029D6BEF294}" type="pres">
      <dgm:prSet presAssocID="{2DD03DDD-2317-4744-88D1-7B62AC12CCD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15DB052-3FAE-432B-A694-BDF06A1946E2}" type="pres">
      <dgm:prSet presAssocID="{2DD03DDD-2317-4744-88D1-7B62AC12CCD0}" presName="spaceRect" presStyleCnt="0"/>
      <dgm:spPr/>
    </dgm:pt>
    <dgm:pt modelId="{08814D6F-78F1-4D37-A6DB-3C5FEECB53DF}" type="pres">
      <dgm:prSet presAssocID="{2DD03DDD-2317-4744-88D1-7B62AC12CCD0}" presName="parTx" presStyleLbl="revTx" presStyleIdx="3" presStyleCnt="5">
        <dgm:presLayoutVars>
          <dgm:chMax val="0"/>
          <dgm:chPref val="0"/>
        </dgm:presLayoutVars>
      </dgm:prSet>
      <dgm:spPr/>
    </dgm:pt>
    <dgm:pt modelId="{AB1469E8-2BE9-4A16-9CE9-ED39735CBFED}" type="pres">
      <dgm:prSet presAssocID="{8B09F34F-70A0-4B11-8604-94341AF77211}" presName="sibTrans" presStyleCnt="0"/>
      <dgm:spPr/>
    </dgm:pt>
    <dgm:pt modelId="{462CF33D-0C80-49D9-86B3-DCF871BCAE08}" type="pres">
      <dgm:prSet presAssocID="{7780C223-22BC-4D94-A78F-B1C6E25BA804}" presName="compNode" presStyleCnt="0"/>
      <dgm:spPr/>
    </dgm:pt>
    <dgm:pt modelId="{EA11BF75-6D08-4FAF-8A16-DA4E01BAD4A4}" type="pres">
      <dgm:prSet presAssocID="{7780C223-22BC-4D94-A78F-B1C6E25BA804}" presName="bgRect" presStyleLbl="bgShp" presStyleIdx="4" presStyleCnt="5"/>
      <dgm:spPr/>
    </dgm:pt>
    <dgm:pt modelId="{BD95B15F-5BD9-467A-9A7A-B5E66CFD306F}" type="pres">
      <dgm:prSet presAssocID="{7780C223-22BC-4D94-A78F-B1C6E25BA80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B6E0683-4E3A-4145-B140-047423B6A9B1}" type="pres">
      <dgm:prSet presAssocID="{7780C223-22BC-4D94-A78F-B1C6E25BA804}" presName="spaceRect" presStyleCnt="0"/>
      <dgm:spPr/>
    </dgm:pt>
    <dgm:pt modelId="{2523217D-79F9-4C8D-A372-4D09F94C1C80}" type="pres">
      <dgm:prSet presAssocID="{7780C223-22BC-4D94-A78F-B1C6E25BA80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8B2291A-BEF4-8045-A19E-F761211A5933}" type="presOf" srcId="{71996822-A089-4ED8-A8A1-A1A774657219}" destId="{4EDDDF3C-1AF3-4BA9-9DFD-95F3C01F05D6}" srcOrd="0" destOrd="0" presId="urn:microsoft.com/office/officeart/2018/2/layout/IconVerticalSolidList"/>
    <dgm:cxn modelId="{3908CE4E-C4F3-A840-B8E1-69C399889462}" type="presOf" srcId="{7780C223-22BC-4D94-A78F-B1C6E25BA804}" destId="{2523217D-79F9-4C8D-A372-4D09F94C1C80}" srcOrd="0" destOrd="0" presId="urn:microsoft.com/office/officeart/2018/2/layout/IconVerticalSolidList"/>
    <dgm:cxn modelId="{C57AD863-6B9E-4492-83B4-DEDA0BB82744}" srcId="{C4C27AE0-B278-47C1-B001-070CDC3D7744}" destId="{2DD03DDD-2317-4744-88D1-7B62AC12CCD0}" srcOrd="3" destOrd="0" parTransId="{AEAECAE8-36CA-4B61-AAA5-F243EE9174BC}" sibTransId="{8B09F34F-70A0-4B11-8604-94341AF77211}"/>
    <dgm:cxn modelId="{F4183972-0DD4-4B24-8F03-AA5FC813851D}" srcId="{C4C27AE0-B278-47C1-B001-070CDC3D7744}" destId="{7189AA53-5251-486E-84C7-143CB22E2C68}" srcOrd="2" destOrd="0" parTransId="{650C0B19-8359-4A29-BC4B-BDA39B63DFAA}" sibTransId="{49AE8FFC-F407-4BE3-95F3-520D5C6C7C15}"/>
    <dgm:cxn modelId="{02049377-699E-C34B-90F2-7E00705B2A5F}" type="presOf" srcId="{DC27332F-65D3-4A40-95BB-1A708E620789}" destId="{B047B2AD-9D46-497C-845B-849108557CBF}" srcOrd="0" destOrd="0" presId="urn:microsoft.com/office/officeart/2018/2/layout/IconVerticalSolidList"/>
    <dgm:cxn modelId="{61C05091-B335-4EAB-8F87-24F5877FBC54}" srcId="{C4C27AE0-B278-47C1-B001-070CDC3D7744}" destId="{DC27332F-65D3-4A40-95BB-1A708E620789}" srcOrd="1" destOrd="0" parTransId="{6E0AB4B5-43AC-4F70-A268-793C05296F0C}" sibTransId="{53403569-1D69-450F-98FC-06DFAC7F142C}"/>
    <dgm:cxn modelId="{CDDD1898-1132-3D4C-9DF6-9085E2C0ACC7}" type="presOf" srcId="{7189AA53-5251-486E-84C7-143CB22E2C68}" destId="{1A4A94B8-F3D0-4B5C-A525-49717B314F6B}" srcOrd="0" destOrd="0" presId="urn:microsoft.com/office/officeart/2018/2/layout/IconVerticalSolidList"/>
    <dgm:cxn modelId="{FF6EDEA0-08C3-477E-A2AD-FED827D7F456}" srcId="{C4C27AE0-B278-47C1-B001-070CDC3D7744}" destId="{7780C223-22BC-4D94-A78F-B1C6E25BA804}" srcOrd="4" destOrd="0" parTransId="{EFC4D3F7-42A0-4BF3-8AC6-372D48B04818}" sibTransId="{D90A0592-1BB1-4B21-A2AA-393325AD7AF8}"/>
    <dgm:cxn modelId="{CCBA91CB-338F-479B-8BD7-4C0A9D93ED94}" srcId="{C4C27AE0-B278-47C1-B001-070CDC3D7744}" destId="{71996822-A089-4ED8-A8A1-A1A774657219}" srcOrd="0" destOrd="0" parTransId="{387C4BE9-4300-4E0B-A808-6C34E1924791}" sibTransId="{4878ADC0-3908-4048-B719-A9D8A8C90951}"/>
    <dgm:cxn modelId="{D4AC00D6-5C42-124F-A115-DA673050C849}" type="presOf" srcId="{2DD03DDD-2317-4744-88D1-7B62AC12CCD0}" destId="{08814D6F-78F1-4D37-A6DB-3C5FEECB53DF}" srcOrd="0" destOrd="0" presId="urn:microsoft.com/office/officeart/2018/2/layout/IconVerticalSolidList"/>
    <dgm:cxn modelId="{4C478DF4-3612-FB42-A2A0-6B6AF21CCA55}" type="presOf" srcId="{C4C27AE0-B278-47C1-B001-070CDC3D7744}" destId="{7F8A40AE-9218-4E9B-A062-B03605ED5DDA}" srcOrd="0" destOrd="0" presId="urn:microsoft.com/office/officeart/2018/2/layout/IconVerticalSolidList"/>
    <dgm:cxn modelId="{B8B98EF5-D03D-AD42-9717-355A26C07A87}" type="presParOf" srcId="{7F8A40AE-9218-4E9B-A062-B03605ED5DDA}" destId="{4E2ABC37-31BD-46E8-B4F8-73526521D84E}" srcOrd="0" destOrd="0" presId="urn:microsoft.com/office/officeart/2018/2/layout/IconVerticalSolidList"/>
    <dgm:cxn modelId="{FECB83A9-22F1-4F45-999B-24D8E2BFBE7A}" type="presParOf" srcId="{4E2ABC37-31BD-46E8-B4F8-73526521D84E}" destId="{C4D0D7A6-68B2-4A6F-95F3-49FD704F8227}" srcOrd="0" destOrd="0" presId="urn:microsoft.com/office/officeart/2018/2/layout/IconVerticalSolidList"/>
    <dgm:cxn modelId="{842DA8BD-B797-074E-8B12-916EA570C475}" type="presParOf" srcId="{4E2ABC37-31BD-46E8-B4F8-73526521D84E}" destId="{6357E059-3101-452B-90EB-5B6C9C10C907}" srcOrd="1" destOrd="0" presId="urn:microsoft.com/office/officeart/2018/2/layout/IconVerticalSolidList"/>
    <dgm:cxn modelId="{C6D4A2FE-162F-FD43-AA34-E2043210A590}" type="presParOf" srcId="{4E2ABC37-31BD-46E8-B4F8-73526521D84E}" destId="{4E764B87-7799-487A-9B02-903BE511F5CE}" srcOrd="2" destOrd="0" presId="urn:microsoft.com/office/officeart/2018/2/layout/IconVerticalSolidList"/>
    <dgm:cxn modelId="{4BAF777C-50D9-4041-B9C1-4B09B22EF8A4}" type="presParOf" srcId="{4E2ABC37-31BD-46E8-B4F8-73526521D84E}" destId="{4EDDDF3C-1AF3-4BA9-9DFD-95F3C01F05D6}" srcOrd="3" destOrd="0" presId="urn:microsoft.com/office/officeart/2018/2/layout/IconVerticalSolidList"/>
    <dgm:cxn modelId="{560579F0-661B-0A4B-81D3-82EA0BB8AFBF}" type="presParOf" srcId="{7F8A40AE-9218-4E9B-A062-B03605ED5DDA}" destId="{8E945D9A-7CA8-4F2C-855F-89DD3F42CF25}" srcOrd="1" destOrd="0" presId="urn:microsoft.com/office/officeart/2018/2/layout/IconVerticalSolidList"/>
    <dgm:cxn modelId="{813260CA-801F-764F-9745-3FCE06DCF355}" type="presParOf" srcId="{7F8A40AE-9218-4E9B-A062-B03605ED5DDA}" destId="{3209B405-2B7D-44D5-B87B-CABF65C96F9F}" srcOrd="2" destOrd="0" presId="urn:microsoft.com/office/officeart/2018/2/layout/IconVerticalSolidList"/>
    <dgm:cxn modelId="{A1457BB0-6835-B447-99B4-01799E33C271}" type="presParOf" srcId="{3209B405-2B7D-44D5-B87B-CABF65C96F9F}" destId="{830C7915-63F9-426E-85AD-2898CFA0E419}" srcOrd="0" destOrd="0" presId="urn:microsoft.com/office/officeart/2018/2/layout/IconVerticalSolidList"/>
    <dgm:cxn modelId="{E2D82A60-B1B4-AA49-BE9D-8E31CB8ECD31}" type="presParOf" srcId="{3209B405-2B7D-44D5-B87B-CABF65C96F9F}" destId="{D1D29375-8BBA-424E-A4EF-8937E070E636}" srcOrd="1" destOrd="0" presId="urn:microsoft.com/office/officeart/2018/2/layout/IconVerticalSolidList"/>
    <dgm:cxn modelId="{CAD3A9D1-945A-9047-BC39-1A636C76580F}" type="presParOf" srcId="{3209B405-2B7D-44D5-B87B-CABF65C96F9F}" destId="{DC40C401-375C-4825-BC71-1F852B10F393}" srcOrd="2" destOrd="0" presId="urn:microsoft.com/office/officeart/2018/2/layout/IconVerticalSolidList"/>
    <dgm:cxn modelId="{CEA985CB-C168-E544-8475-42212A27CC26}" type="presParOf" srcId="{3209B405-2B7D-44D5-B87B-CABF65C96F9F}" destId="{B047B2AD-9D46-497C-845B-849108557CBF}" srcOrd="3" destOrd="0" presId="urn:microsoft.com/office/officeart/2018/2/layout/IconVerticalSolidList"/>
    <dgm:cxn modelId="{64E8A89C-1944-C143-A805-E3FB953AF56A}" type="presParOf" srcId="{7F8A40AE-9218-4E9B-A062-B03605ED5DDA}" destId="{4CBC7700-626F-4C24-86DA-4E2ABA921136}" srcOrd="3" destOrd="0" presId="urn:microsoft.com/office/officeart/2018/2/layout/IconVerticalSolidList"/>
    <dgm:cxn modelId="{422C6FA3-142E-DC41-ABA9-F6F4A24536A9}" type="presParOf" srcId="{7F8A40AE-9218-4E9B-A062-B03605ED5DDA}" destId="{88A54E8A-26A4-42C6-90B9-29E9AA725C18}" srcOrd="4" destOrd="0" presId="urn:microsoft.com/office/officeart/2018/2/layout/IconVerticalSolidList"/>
    <dgm:cxn modelId="{4EC3B30A-B0BF-0949-AC90-DCFA6058FC50}" type="presParOf" srcId="{88A54E8A-26A4-42C6-90B9-29E9AA725C18}" destId="{6CAF2AEF-6F2F-40C8-82CC-009FB6DC0AFE}" srcOrd="0" destOrd="0" presId="urn:microsoft.com/office/officeart/2018/2/layout/IconVerticalSolidList"/>
    <dgm:cxn modelId="{A33B616E-EEF6-3546-BB0F-EC9BF1983E92}" type="presParOf" srcId="{88A54E8A-26A4-42C6-90B9-29E9AA725C18}" destId="{71926CB6-3344-442A-B7BD-FF7A2B578DE4}" srcOrd="1" destOrd="0" presId="urn:microsoft.com/office/officeart/2018/2/layout/IconVerticalSolidList"/>
    <dgm:cxn modelId="{AB8B43F0-8D6C-7744-8E90-8F5DBAAB4B00}" type="presParOf" srcId="{88A54E8A-26A4-42C6-90B9-29E9AA725C18}" destId="{DF1AC2BB-6D83-49AC-8667-151E7DE6B471}" srcOrd="2" destOrd="0" presId="urn:microsoft.com/office/officeart/2018/2/layout/IconVerticalSolidList"/>
    <dgm:cxn modelId="{DC937F24-70D2-BB44-8871-91D9E4BC9F91}" type="presParOf" srcId="{88A54E8A-26A4-42C6-90B9-29E9AA725C18}" destId="{1A4A94B8-F3D0-4B5C-A525-49717B314F6B}" srcOrd="3" destOrd="0" presId="urn:microsoft.com/office/officeart/2018/2/layout/IconVerticalSolidList"/>
    <dgm:cxn modelId="{2A74E886-AC16-214B-8E53-65D2C1A0E942}" type="presParOf" srcId="{7F8A40AE-9218-4E9B-A062-B03605ED5DDA}" destId="{7A4F4E7B-0D6A-4813-9FA4-B4740A03F79E}" srcOrd="5" destOrd="0" presId="urn:microsoft.com/office/officeart/2018/2/layout/IconVerticalSolidList"/>
    <dgm:cxn modelId="{A1CF315A-A500-1448-A20D-6925956CE726}" type="presParOf" srcId="{7F8A40AE-9218-4E9B-A062-B03605ED5DDA}" destId="{6F964148-CF8D-4EBC-896B-1FF34A61D23B}" srcOrd="6" destOrd="0" presId="urn:microsoft.com/office/officeart/2018/2/layout/IconVerticalSolidList"/>
    <dgm:cxn modelId="{2E221A76-1C32-9F48-B882-5BF3D0058EAB}" type="presParOf" srcId="{6F964148-CF8D-4EBC-896B-1FF34A61D23B}" destId="{592B7FB0-852E-40D8-A2CC-4A1A7FE22F28}" srcOrd="0" destOrd="0" presId="urn:microsoft.com/office/officeart/2018/2/layout/IconVerticalSolidList"/>
    <dgm:cxn modelId="{2D98EAA1-0E61-BD44-A0EF-94F813647888}" type="presParOf" srcId="{6F964148-CF8D-4EBC-896B-1FF34A61D23B}" destId="{E711EC62-00F7-4EEB-B6C0-A029D6BEF294}" srcOrd="1" destOrd="0" presId="urn:microsoft.com/office/officeart/2018/2/layout/IconVerticalSolidList"/>
    <dgm:cxn modelId="{699DA62A-A62F-984D-A3F0-898EC88152E9}" type="presParOf" srcId="{6F964148-CF8D-4EBC-896B-1FF34A61D23B}" destId="{515DB052-3FAE-432B-A694-BDF06A1946E2}" srcOrd="2" destOrd="0" presId="urn:microsoft.com/office/officeart/2018/2/layout/IconVerticalSolidList"/>
    <dgm:cxn modelId="{BC21400E-B6F9-4649-B6DD-CF2FF46C7D1A}" type="presParOf" srcId="{6F964148-CF8D-4EBC-896B-1FF34A61D23B}" destId="{08814D6F-78F1-4D37-A6DB-3C5FEECB53DF}" srcOrd="3" destOrd="0" presId="urn:microsoft.com/office/officeart/2018/2/layout/IconVerticalSolidList"/>
    <dgm:cxn modelId="{2D4E8B26-D240-5C41-A001-45C152317026}" type="presParOf" srcId="{7F8A40AE-9218-4E9B-A062-B03605ED5DDA}" destId="{AB1469E8-2BE9-4A16-9CE9-ED39735CBFED}" srcOrd="7" destOrd="0" presId="urn:microsoft.com/office/officeart/2018/2/layout/IconVerticalSolidList"/>
    <dgm:cxn modelId="{C23EBF7C-73E1-2546-9E04-400A99C73488}" type="presParOf" srcId="{7F8A40AE-9218-4E9B-A062-B03605ED5DDA}" destId="{462CF33D-0C80-49D9-86B3-DCF871BCAE08}" srcOrd="8" destOrd="0" presId="urn:microsoft.com/office/officeart/2018/2/layout/IconVerticalSolidList"/>
    <dgm:cxn modelId="{4EB7C13A-65DD-A240-B1FA-A64075E968AE}" type="presParOf" srcId="{462CF33D-0C80-49D9-86B3-DCF871BCAE08}" destId="{EA11BF75-6D08-4FAF-8A16-DA4E01BAD4A4}" srcOrd="0" destOrd="0" presId="urn:microsoft.com/office/officeart/2018/2/layout/IconVerticalSolidList"/>
    <dgm:cxn modelId="{1C83D3F7-2BE6-8F4C-B9C2-244EA5035889}" type="presParOf" srcId="{462CF33D-0C80-49D9-86B3-DCF871BCAE08}" destId="{BD95B15F-5BD9-467A-9A7A-B5E66CFD306F}" srcOrd="1" destOrd="0" presId="urn:microsoft.com/office/officeart/2018/2/layout/IconVerticalSolidList"/>
    <dgm:cxn modelId="{BA2A5EBB-E390-C34C-906C-00B37DF7E781}" type="presParOf" srcId="{462CF33D-0C80-49D9-86B3-DCF871BCAE08}" destId="{2B6E0683-4E3A-4145-B140-047423B6A9B1}" srcOrd="2" destOrd="0" presId="urn:microsoft.com/office/officeart/2018/2/layout/IconVerticalSolidList"/>
    <dgm:cxn modelId="{413753C7-28C4-9046-ACF6-572ACBC20D4F}" type="presParOf" srcId="{462CF33D-0C80-49D9-86B3-DCF871BCAE08}" destId="{2523217D-79F9-4C8D-A372-4D09F94C1C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6DF04-9BE9-48AF-B2A7-427AF2BC6675}">
      <dsp:nvSpPr>
        <dsp:cNvPr id="0" name=""/>
        <dsp:cNvSpPr/>
      </dsp:nvSpPr>
      <dsp:spPr>
        <a:xfrm>
          <a:off x="909581" y="488911"/>
          <a:ext cx="1259653" cy="12596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A06E8-D09A-46BC-9DBD-28195AA80CE8}">
      <dsp:nvSpPr>
        <dsp:cNvPr id="0" name=""/>
        <dsp:cNvSpPr/>
      </dsp:nvSpPr>
      <dsp:spPr>
        <a:xfrm>
          <a:off x="139792" y="2132902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Understand how algorithm design and tuning impact RL performance in Frogger</a:t>
          </a:r>
          <a:endParaRPr lang="en-US" sz="1700" kern="1200"/>
        </a:p>
      </dsp:txBody>
      <dsp:txXfrm>
        <a:off x="139792" y="2132902"/>
        <a:ext cx="2799230" cy="720000"/>
      </dsp:txXfrm>
    </dsp:sp>
    <dsp:sp modelId="{56A62586-E96C-4572-B74F-3DF92146FA95}">
      <dsp:nvSpPr>
        <dsp:cNvPr id="0" name=""/>
        <dsp:cNvSpPr/>
      </dsp:nvSpPr>
      <dsp:spPr>
        <a:xfrm>
          <a:off x="4198677" y="488911"/>
          <a:ext cx="1259653" cy="12596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94778-4606-41B0-97E0-D7518B7F45FC}">
      <dsp:nvSpPr>
        <dsp:cNvPr id="0" name=""/>
        <dsp:cNvSpPr/>
      </dsp:nvSpPr>
      <dsp:spPr>
        <a:xfrm>
          <a:off x="3428889" y="2132902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Implement a baseline DQN and improve it using Double DQN (DDQN)</a:t>
          </a:r>
          <a:endParaRPr lang="en-US" sz="1700" kern="1200"/>
        </a:p>
      </dsp:txBody>
      <dsp:txXfrm>
        <a:off x="3428889" y="2132902"/>
        <a:ext cx="2799230" cy="720000"/>
      </dsp:txXfrm>
    </dsp:sp>
    <dsp:sp modelId="{F9FA6C9C-09C4-43FA-9E9F-1533413DF6D7}">
      <dsp:nvSpPr>
        <dsp:cNvPr id="0" name=""/>
        <dsp:cNvSpPr/>
      </dsp:nvSpPr>
      <dsp:spPr>
        <a:xfrm>
          <a:off x="909581" y="3552710"/>
          <a:ext cx="1259653" cy="12596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25692-C135-4748-AC93-C7093AD6343D}">
      <dsp:nvSpPr>
        <dsp:cNvPr id="0" name=""/>
        <dsp:cNvSpPr/>
      </dsp:nvSpPr>
      <dsp:spPr>
        <a:xfrm>
          <a:off x="139792" y="5196701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Test 6 different training configurations to measure performance changes</a:t>
          </a:r>
          <a:endParaRPr lang="en-US" sz="1700" kern="1200"/>
        </a:p>
      </dsp:txBody>
      <dsp:txXfrm>
        <a:off x="139792" y="5196701"/>
        <a:ext cx="2799230" cy="720000"/>
      </dsp:txXfrm>
    </dsp:sp>
    <dsp:sp modelId="{C63FE916-45D3-4985-A8CB-C1D416DC8CE9}">
      <dsp:nvSpPr>
        <dsp:cNvPr id="0" name=""/>
        <dsp:cNvSpPr/>
      </dsp:nvSpPr>
      <dsp:spPr>
        <a:xfrm>
          <a:off x="4198677" y="3552710"/>
          <a:ext cx="1259653" cy="12596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89843-ACA0-4A83-A3A8-0D8E97B512B7}">
      <dsp:nvSpPr>
        <dsp:cNvPr id="0" name=""/>
        <dsp:cNvSpPr/>
      </dsp:nvSpPr>
      <dsp:spPr>
        <a:xfrm>
          <a:off x="3428889" y="5196701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Evaluate progress using learning curves and final gameplay outcomes</a:t>
          </a:r>
          <a:endParaRPr lang="en-US" sz="1700" kern="1200"/>
        </a:p>
      </dsp:txBody>
      <dsp:txXfrm>
        <a:off x="3428889" y="5196701"/>
        <a:ext cx="279923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7FECA-EA64-EE41-8C65-8B99323FCDD8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C3C7D3-1D45-CF4A-8DBF-13C63A45E8AE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Sparse rewards → agent only gets feedback when making forward progress</a:t>
          </a:r>
        </a:p>
      </dsp:txBody>
      <dsp:txXfrm>
        <a:off x="299702" y="1282093"/>
        <a:ext cx="2200851" cy="1366505"/>
      </dsp:txXfrm>
    </dsp:sp>
    <dsp:sp modelId="{C4A25B40-7908-2345-95BC-EE79B5AB5021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D1B0D-8A3A-A84E-A957-9FA119CF058E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Requires </a:t>
          </a:r>
          <a:r>
            <a:rPr lang="en-US" sz="1700" b="1" kern="1200"/>
            <a:t>precise timing</a:t>
          </a:r>
          <a:r>
            <a:rPr lang="en-US" sz="1700" kern="1200"/>
            <a:t> to avoid cars, trucks, logs, and turtles</a:t>
          </a:r>
        </a:p>
      </dsp:txBody>
      <dsp:txXfrm>
        <a:off x="3093555" y="1282093"/>
        <a:ext cx="2200851" cy="1366505"/>
      </dsp:txXfrm>
    </dsp:sp>
    <dsp:sp modelId="{B5D8C76F-F8CD-0D4E-ADC9-A4BD1EE92266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9E114-AFAE-2E4B-804E-F8FB349BED07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Multiple failure modes: collisions, water, timeout</a:t>
          </a:r>
        </a:p>
      </dsp:txBody>
      <dsp:txXfrm>
        <a:off x="5887408" y="1282093"/>
        <a:ext cx="2200851" cy="1366505"/>
      </dsp:txXfrm>
    </dsp:sp>
    <dsp:sp modelId="{3F70EFA9-EE42-A24F-9136-377E8BCA2778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98D52-B1D6-5F48-9FEF-7ED4EFD93200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Great environment to test how DQN handles </a:t>
          </a:r>
          <a:r>
            <a:rPr lang="en-US" sz="1700" b="1" kern="1200"/>
            <a:t>long sequences</a:t>
          </a:r>
          <a:r>
            <a:rPr lang="en-US" sz="1700" kern="1200"/>
            <a:t> and </a:t>
          </a:r>
          <a:r>
            <a:rPr lang="en-US" sz="1700" b="1" kern="1200"/>
            <a:t>delayed rewards</a:t>
          </a:r>
          <a:endParaRPr lang="en-US" sz="17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D0D7A6-68B2-4A6F-95F3-49FD704F8227}">
      <dsp:nvSpPr>
        <dsp:cNvPr id="0" name=""/>
        <dsp:cNvSpPr/>
      </dsp:nvSpPr>
      <dsp:spPr>
        <a:xfrm>
          <a:off x="0" y="3400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7E059-3101-452B-90EB-5B6C9C10C907}">
      <dsp:nvSpPr>
        <dsp:cNvPr id="0" name=""/>
        <dsp:cNvSpPr/>
      </dsp:nvSpPr>
      <dsp:spPr>
        <a:xfrm>
          <a:off x="219097" y="166365"/>
          <a:ext cx="398359" cy="398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DDF3C-1AF3-4BA9-9DFD-95F3C01F05D6}">
      <dsp:nvSpPr>
        <dsp:cNvPr id="0" name=""/>
        <dsp:cNvSpPr/>
      </dsp:nvSpPr>
      <dsp:spPr>
        <a:xfrm>
          <a:off x="836555" y="3400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Double DQN significantly improved performance</a:t>
          </a:r>
          <a:r>
            <a:rPr lang="en-US" sz="1900" kern="1200"/>
            <a:t> by reducing Q-value overestimation</a:t>
          </a:r>
        </a:p>
      </dsp:txBody>
      <dsp:txXfrm>
        <a:off x="836555" y="3400"/>
        <a:ext cx="9679044" cy="724290"/>
      </dsp:txXfrm>
    </dsp:sp>
    <dsp:sp modelId="{830C7915-63F9-426E-85AD-2898CFA0E419}">
      <dsp:nvSpPr>
        <dsp:cNvPr id="0" name=""/>
        <dsp:cNvSpPr/>
      </dsp:nvSpPr>
      <dsp:spPr>
        <a:xfrm>
          <a:off x="0" y="908763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D29375-8BBA-424E-A4EF-8937E070E636}">
      <dsp:nvSpPr>
        <dsp:cNvPr id="0" name=""/>
        <dsp:cNvSpPr/>
      </dsp:nvSpPr>
      <dsp:spPr>
        <a:xfrm>
          <a:off x="219097" y="1071728"/>
          <a:ext cx="398359" cy="398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7B2AD-9D46-497C-845B-849108557CBF}">
      <dsp:nvSpPr>
        <dsp:cNvPr id="0" name=""/>
        <dsp:cNvSpPr/>
      </dsp:nvSpPr>
      <dsp:spPr>
        <a:xfrm>
          <a:off x="836555" y="908763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Bigger Replay Buffer (30k)</a:t>
          </a:r>
          <a:r>
            <a:rPr lang="en-US" sz="1900" kern="1200"/>
            <a:t> enabled better long-term learning from diverse experiences</a:t>
          </a:r>
        </a:p>
      </dsp:txBody>
      <dsp:txXfrm>
        <a:off x="836555" y="908763"/>
        <a:ext cx="9679044" cy="724290"/>
      </dsp:txXfrm>
    </dsp:sp>
    <dsp:sp modelId="{6CAF2AEF-6F2F-40C8-82CC-009FB6DC0AFE}">
      <dsp:nvSpPr>
        <dsp:cNvPr id="0" name=""/>
        <dsp:cNvSpPr/>
      </dsp:nvSpPr>
      <dsp:spPr>
        <a:xfrm>
          <a:off x="0" y="1814126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926CB6-3344-442A-B7BD-FF7A2B578DE4}">
      <dsp:nvSpPr>
        <dsp:cNvPr id="0" name=""/>
        <dsp:cNvSpPr/>
      </dsp:nvSpPr>
      <dsp:spPr>
        <a:xfrm>
          <a:off x="219097" y="1977092"/>
          <a:ext cx="398359" cy="398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A94B8-F3D0-4B5C-A525-49717B314F6B}">
      <dsp:nvSpPr>
        <dsp:cNvPr id="0" name=""/>
        <dsp:cNvSpPr/>
      </dsp:nvSpPr>
      <dsp:spPr>
        <a:xfrm>
          <a:off x="836555" y="1814126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High exploration (300k decay)</a:t>
          </a:r>
          <a:r>
            <a:rPr lang="en-US" sz="1900" kern="1200"/>
            <a:t> slowed early progress and hurt final reward</a:t>
          </a:r>
        </a:p>
      </dsp:txBody>
      <dsp:txXfrm>
        <a:off x="836555" y="1814126"/>
        <a:ext cx="9679044" cy="724290"/>
      </dsp:txXfrm>
    </dsp:sp>
    <dsp:sp modelId="{592B7FB0-852E-40D8-A2CC-4A1A7FE22F28}">
      <dsp:nvSpPr>
        <dsp:cNvPr id="0" name=""/>
        <dsp:cNvSpPr/>
      </dsp:nvSpPr>
      <dsp:spPr>
        <a:xfrm>
          <a:off x="0" y="2719489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1EC62-00F7-4EEB-B6C0-A029D6BEF294}">
      <dsp:nvSpPr>
        <dsp:cNvPr id="0" name=""/>
        <dsp:cNvSpPr/>
      </dsp:nvSpPr>
      <dsp:spPr>
        <a:xfrm>
          <a:off x="219097" y="2882455"/>
          <a:ext cx="398359" cy="398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14D6F-78F1-4D37-A6DB-3C5FEECB53DF}">
      <dsp:nvSpPr>
        <dsp:cNvPr id="0" name=""/>
        <dsp:cNvSpPr/>
      </dsp:nvSpPr>
      <dsp:spPr>
        <a:xfrm>
          <a:off x="836555" y="2719489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Sparse rewards</a:t>
          </a:r>
          <a:r>
            <a:rPr lang="en-US" sz="1900" kern="1200"/>
            <a:t> made early learning difficult, but model improved once rewards were reached</a:t>
          </a:r>
        </a:p>
      </dsp:txBody>
      <dsp:txXfrm>
        <a:off x="836555" y="2719489"/>
        <a:ext cx="9679044" cy="724290"/>
      </dsp:txXfrm>
    </dsp:sp>
    <dsp:sp modelId="{EA11BF75-6D08-4FAF-8A16-DA4E01BAD4A4}">
      <dsp:nvSpPr>
        <dsp:cNvPr id="0" name=""/>
        <dsp:cNvSpPr/>
      </dsp:nvSpPr>
      <dsp:spPr>
        <a:xfrm>
          <a:off x="0" y="3624853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5B15F-5BD9-467A-9A7A-B5E66CFD306F}">
      <dsp:nvSpPr>
        <dsp:cNvPr id="0" name=""/>
        <dsp:cNvSpPr/>
      </dsp:nvSpPr>
      <dsp:spPr>
        <a:xfrm>
          <a:off x="219097" y="3787818"/>
          <a:ext cx="398359" cy="3983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3217D-79F9-4C8D-A372-4D09F94C1C80}">
      <dsp:nvSpPr>
        <dsp:cNvPr id="0" name=""/>
        <dsp:cNvSpPr/>
      </dsp:nvSpPr>
      <dsp:spPr>
        <a:xfrm>
          <a:off x="836555" y="3624853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Credit assignment is challenging</a:t>
          </a:r>
          <a:r>
            <a:rPr lang="en-US" sz="1900" kern="1200"/>
            <a:t> because Frogger requires long action sequences</a:t>
          </a:r>
        </a:p>
      </dsp:txBody>
      <dsp:txXfrm>
        <a:off x="836555" y="3624853"/>
        <a:ext cx="9679044" cy="724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84033-1B66-E446-83B4-70BB7433C15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874D1-A4DC-EB40-A238-DBA28963B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0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6874D1-A4DC-EB40-A238-DBA28963BE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36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6874D1-A4DC-EB40-A238-DBA28963BE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58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3956-908D-5904-E5B8-E4612047D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3164B-AAA7-AF4B-F878-A227BFDD9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85CF7-9CB7-A9CF-B737-A39E3F5A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13C2E-92A0-5DF2-EA2E-45461271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4177E-54BC-F7B0-A8F6-EF26C3BC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5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61F2-0136-DE64-4242-D4862B2B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85485-5D2B-5657-E2EB-325DA4A8C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A7152-A19D-117F-8C91-BB82472F3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44427-C6E8-F63C-22AA-60594614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EBCA5-4152-6AC1-AF55-828CE3EDE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25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B5ED-B1BA-993B-217A-77C6AD95C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39781-8033-590A-47BB-4BF33E7D6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699E3-7819-7F4C-98B4-EC56A96B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3144F-54D7-5501-EF13-0A3010E7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3522F-2945-F7AB-81E0-E642A40F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2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58F16-CCCA-B48B-06AC-2EC3D0E61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2DEAA-3680-8E9E-09E8-10B896952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9D67A-0912-DCE9-A4CC-97EC52E8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A9F64-4E62-CE69-5DF1-78963CDDB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7A478-E58B-05CA-2299-D09B759B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B0E1-CABF-5011-0936-E28E4B0EB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6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4B22-02B6-D28E-868E-C0172610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FA916-00BA-BA1D-33EA-0B5B2DEE6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102D0-8750-A8B1-1B39-C6B304EC6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8942B-B888-29A0-B0D7-30EC5E92B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AD958-78C1-C560-C567-27973AED4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A5FDF-E55C-6FAB-FAE6-2A14C58D0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1CAF30-737F-CB71-62C3-D3050F2C2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981DC-18A7-5B11-F77F-83757F29D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8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7D7B-9661-0600-BBB3-9C88D113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E31C2-FE8F-3A21-22CD-A6C09EE7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BEDF4-B7D0-7A9C-BDA4-AAA58EAC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47863-97CB-7E82-857E-4ABB14ED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0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10BC8-E31C-61C4-0840-B3BF2B57B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5E641-7AD5-688F-7CBB-0D480C28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BC16A-CB54-1312-6188-E6EAC895C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8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280E4-B748-64CE-6EBA-436D0281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DCB5F-70ED-2749-988A-A9AA298E2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C7EE6-E492-6952-165C-9AA2F940A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30A69-5168-F5A4-72C4-44F227588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05A08-D5CD-EA49-E94B-BC6C8873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3CDB6-E9C0-73C9-8C16-BFAC3204F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86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5502-8F1A-6A8A-6AD5-EC6B0408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920172-E732-CC4C-09A9-7BA5AAD29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443ED-54C1-92D3-3021-10E40DF3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E2B25-FB82-D7EF-343D-D4A0F7945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33827-8378-9F16-D800-B9AC76EE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F9B6C-15E8-B60B-6707-5EF637BB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5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A97D-93A2-7999-796A-3DCA0C72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51E43-475A-6CBC-7E0A-157605516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1BA73-53C8-0123-368D-13ED0CB0B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BA00C-6416-982D-F624-C797D02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9C68B-0CED-7186-820A-7562EEA82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9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08290-F7B5-D89A-9512-1542BE59F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12B14-F193-A22E-7C38-C1A88148B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4CD14-D713-B87C-E134-A23F64C8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5EDC6-B7AF-1822-2F64-12B2DC9A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D1A21-4C9D-990F-5A73-A915E381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0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E8BFA-7D56-0CDA-878F-9321AB655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54BD0-2033-D962-A9F4-17596F815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E8DCF-44A9-978D-D0AF-F41CAA2AA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645D8-8D81-784A-9E99-BA3F58F9DD0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F99E2-002C-99E0-8859-879D12C9F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CCD03-2CD8-E2C4-7EC6-91205C308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9E851-3C51-0640-85B1-CF85E912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5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C1572-4649-D0B3-84E9-2D62EDDDF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Deep Q-Learning on Frogger: DQN vs Double DQN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4B470-86A1-9E02-446F-12F3272A3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 sz="2000" i="1" dirty="0"/>
              <a:t>CSCI 166</a:t>
            </a:r>
          </a:p>
          <a:p>
            <a:pPr algn="l"/>
            <a:r>
              <a:rPr lang="en-US" sz="2000" b="1" dirty="0"/>
              <a:t>Team: </a:t>
            </a:r>
            <a:r>
              <a:rPr lang="en-US" sz="2000" dirty="0"/>
              <a:t>Joshua, Anushka, Herbert</a:t>
            </a:r>
          </a:p>
        </p:txBody>
      </p:sp>
      <p:pic>
        <p:nvPicPr>
          <p:cNvPr id="7" name="Graphic 6" descr="Game controller">
            <a:extLst>
              <a:ext uri="{FF2B5EF4-FFF2-40B4-BE49-F238E27FC236}">
                <a16:creationId xmlns:a16="http://schemas.microsoft.com/office/drawing/2014/main" id="{9C929B0A-7E53-5B53-10CD-683AC3319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6253" y="957860"/>
            <a:ext cx="4942280" cy="49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9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42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2096B7-8D29-80F2-6D4A-04C45BD6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Project Goal</a:t>
            </a:r>
          </a:p>
        </p:txBody>
      </p:sp>
      <p:graphicFrame>
        <p:nvGraphicFramePr>
          <p:cNvPr id="33" name="Rectangle 1">
            <a:extLst>
              <a:ext uri="{FF2B5EF4-FFF2-40B4-BE49-F238E27FC236}">
                <a16:creationId xmlns:a16="http://schemas.microsoft.com/office/drawing/2014/main" id="{60627BB7-B6E2-8612-EA6D-645A9F3291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175329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4780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E13B6-153A-D547-B852-D4A685A2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Why Frogger?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7D3A305-7DB5-079A-B659-7F4E63669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499" y="390832"/>
            <a:ext cx="3233585" cy="8736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3" name="Content Placeholder 6">
            <a:extLst>
              <a:ext uri="{FF2B5EF4-FFF2-40B4-BE49-F238E27FC236}">
                <a16:creationId xmlns:a16="http://schemas.microsoft.com/office/drawing/2014/main" id="{6CFA821D-ED40-FB9F-0FAD-CD0B1152F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983404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3316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DBA5C1-903F-0EA6-3060-8D2FBE6D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Environment Setup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63B844C7-6C4D-7EA1-271B-48F2256A3D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Observation Space: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84×84×4 stacked grayscale frames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Action Space: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5 discrete actions (NONE, UP, RIGHT, LEFT, DOWN)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Reward Structure: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Sparse rewards: forward progress and large reward for reaching goal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Why it matters: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The agent must explore to find winning paths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Timing + long action sequences make learning difficult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704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D9188-B1E1-3725-3A27-0409B39C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b="1"/>
              <a:t>Method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802B5-60FA-C943-911E-C84AB1AC0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 dirty="0"/>
              <a:t>CNN-based DQN (baseline)</a:t>
            </a:r>
          </a:p>
          <a:p>
            <a:r>
              <a:rPr lang="en-US" sz="2000" b="1" dirty="0"/>
              <a:t>Double DQN</a:t>
            </a:r>
            <a:r>
              <a:rPr lang="en-US" sz="2000" dirty="0"/>
              <a:t> improves learning:</a:t>
            </a:r>
            <a:br>
              <a:rPr lang="en-US" sz="2000" dirty="0"/>
            </a:br>
            <a:r>
              <a:rPr lang="en-US" sz="2000" dirty="0"/>
              <a:t>online net selects → target net evaluates</a:t>
            </a:r>
          </a:p>
          <a:p>
            <a:r>
              <a:rPr lang="en-US" sz="2000" dirty="0"/>
              <a:t>Experience replay + target network</a:t>
            </a:r>
          </a:p>
          <a:p>
            <a:r>
              <a:rPr lang="en-US" sz="2000" dirty="0"/>
              <a:t>Epsilon-greedy exploration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0F1E57-2E12-C4BF-A518-9EBA9BB3A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80115"/>
            <a:ext cx="5900717" cy="264056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 descr="Architecture for DQN and Double DQN">
            <a:extLst>
              <a:ext uri="{FF2B5EF4-FFF2-40B4-BE49-F238E27FC236}">
                <a16:creationId xmlns:a16="http://schemas.microsoft.com/office/drawing/2014/main" id="{CF74F048-E07C-5213-40FA-028F66E574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404334" cy="240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26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9B731-39E4-C7CD-5125-31316CD5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b="1"/>
              <a:t>Model Architecture</a:t>
            </a:r>
            <a:endParaRPr 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C274-73FC-E446-4B7E-F91AE8A96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/>
              <a:t>Baseline DQN (from starter code):</a:t>
            </a:r>
            <a:endParaRPr lang="en-US" sz="2000"/>
          </a:p>
          <a:p>
            <a:r>
              <a:rPr lang="en-US" sz="2000"/>
              <a:t>Conv1: 32 filters, 8×8, stride 4, ReLU</a:t>
            </a:r>
          </a:p>
          <a:p>
            <a:r>
              <a:rPr lang="en-US" sz="2000"/>
              <a:t>Conv2: 64 filters, 4×4, stride 2, ReLU</a:t>
            </a:r>
          </a:p>
          <a:p>
            <a:r>
              <a:rPr lang="en-US" sz="2000"/>
              <a:t>Conv3: 64 filters, 3×3, stride 1, ReLU</a:t>
            </a:r>
          </a:p>
          <a:p>
            <a:r>
              <a:rPr lang="en-US" sz="2000"/>
              <a:t>Fully Connected: 512 units</a:t>
            </a:r>
          </a:p>
          <a:p>
            <a:r>
              <a:rPr lang="en-US" sz="2000"/>
              <a:t>Output: 5 Q-values (one per action)</a:t>
            </a:r>
          </a:p>
          <a:p>
            <a:pPr marL="0" indent="0">
              <a:buNone/>
            </a:pPr>
            <a:r>
              <a:rPr lang="en-US" sz="2000" b="1"/>
              <a:t>Key Components:</a:t>
            </a:r>
            <a:endParaRPr lang="en-US" sz="2000"/>
          </a:p>
          <a:p>
            <a:r>
              <a:rPr lang="en-US" sz="2000"/>
              <a:t>Experience Replay (10k–30k size)</a:t>
            </a:r>
          </a:p>
          <a:p>
            <a:r>
              <a:rPr lang="en-US" sz="2000"/>
              <a:t>Target Network (sync every 1000–2500 steps)</a:t>
            </a:r>
          </a:p>
          <a:p>
            <a:r>
              <a:rPr lang="en-US" sz="2000"/>
              <a:t>Epsilon-Greedy Exploration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552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56602-F802-B7C3-2ED3-33E251EC2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Double DQN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6C22E-4B10-2865-D325-CDD3A9484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911799" cy="44683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Problem in DQN:</a:t>
            </a:r>
            <a:endParaRPr lang="en-US" sz="2000" dirty="0"/>
          </a:p>
          <a:p>
            <a:r>
              <a:rPr lang="en-US" sz="2000" dirty="0"/>
              <a:t>Overestimates Q-values because the same network selects + evaluates actions</a:t>
            </a:r>
          </a:p>
          <a:p>
            <a:pPr marL="0" indent="0">
              <a:buNone/>
            </a:pPr>
            <a:r>
              <a:rPr lang="en-US" sz="2000" b="1" dirty="0"/>
              <a:t>DDQN Solution:</a:t>
            </a:r>
            <a:endParaRPr lang="en-US" sz="2000" dirty="0"/>
          </a:p>
          <a:p>
            <a:r>
              <a:rPr lang="en-US" sz="2000" dirty="0"/>
              <a:t>Online network selects action</a:t>
            </a:r>
          </a:p>
          <a:p>
            <a:r>
              <a:rPr lang="en-US" sz="2000" dirty="0"/>
              <a:t>Target network evaluates it</a:t>
            </a:r>
          </a:p>
          <a:p>
            <a:pPr marL="0" indent="0">
              <a:buNone/>
            </a:pPr>
            <a:r>
              <a:rPr lang="en-US" sz="2000" b="1" dirty="0"/>
              <a:t>Effect:</a:t>
            </a:r>
            <a:endParaRPr lang="en-US" sz="2000" dirty="0"/>
          </a:p>
          <a:p>
            <a:r>
              <a:rPr lang="en-US" sz="2000" dirty="0"/>
              <a:t>More stable learning</a:t>
            </a:r>
          </a:p>
          <a:p>
            <a:r>
              <a:rPr lang="en-US" sz="2000" dirty="0"/>
              <a:t>Large improvement over baseline DQN (345% higher mean reward)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0215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2C496-0693-C434-77A8-B1B0AC9DB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Experiments: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F57D0-60A8-A0B7-4AD1-CAA59A7CE7A4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We ran </a:t>
            </a:r>
            <a:r>
              <a:rPr lang="en-US" sz="2200" b="1"/>
              <a:t>6 experiments</a:t>
            </a:r>
            <a:r>
              <a:rPr lang="en-US" sz="2200"/>
              <a:t>, each for </a:t>
            </a:r>
            <a:r>
              <a:rPr lang="en-US" sz="2200" b="1"/>
              <a:t>500k training steps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Trained for 500,000 steps on Google Colab A100 GPU (~7 hours)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B66E7F4-26B0-0598-B8B7-ECB0F0E663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48441"/>
              </p:ext>
            </p:extLst>
          </p:nvPr>
        </p:nvGraphicFramePr>
        <p:xfrm>
          <a:off x="6099048" y="718529"/>
          <a:ext cx="5458969" cy="5420945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2880688">
                  <a:extLst>
                    <a:ext uri="{9D8B030D-6E8A-4147-A177-3AD203B41FA5}">
                      <a16:colId xmlns:a16="http://schemas.microsoft.com/office/drawing/2014/main" val="591571015"/>
                    </a:ext>
                  </a:extLst>
                </a:gridCol>
                <a:gridCol w="2578281">
                  <a:extLst>
                    <a:ext uri="{9D8B030D-6E8A-4147-A177-3AD203B41FA5}">
                      <a16:colId xmlns:a16="http://schemas.microsoft.com/office/drawing/2014/main" val="2899563949"/>
                    </a:ext>
                  </a:extLst>
                </a:gridCol>
              </a:tblGrid>
              <a:tr h="653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Experiment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Key Change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512326"/>
                  </a:ext>
                </a:extLst>
              </a:tr>
              <a:tr h="653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Baseline DQN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Standard DQN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373330"/>
                  </a:ext>
                </a:extLst>
              </a:tr>
              <a:tr h="653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Double DQN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Algorithm change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033401"/>
                  </a:ext>
                </a:extLst>
              </a:tr>
              <a:tr h="653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DDQN (Lower LR)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5e-5 learning rate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341179"/>
                  </a:ext>
                </a:extLst>
              </a:tr>
              <a:tr h="93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DDQN (Longer Exploration)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300k epsilon decay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132205"/>
                  </a:ext>
                </a:extLst>
              </a:tr>
              <a:tr h="93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DDQN (Slower Target Sync)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Sync every 2500 steps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413084"/>
                  </a:ext>
                </a:extLst>
              </a:tr>
              <a:tr h="93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DDQN (Bigger Replay Buffer)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bg1"/>
                          </a:solidFill>
                        </a:rPr>
                        <a:t>Replay size 30k</a:t>
                      </a:r>
                    </a:p>
                  </a:txBody>
                  <a:tcPr marL="223003" marR="171542" marT="141616" marB="1715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915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299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8953E74-D241-4DDF-8508-F0365EA13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C3C901A-B2F4-4A3C-BCDD-7C8D587EC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371134"/>
          </a:xfrm>
          <a:custGeom>
            <a:avLst/>
            <a:gdLst>
              <a:gd name="connsiteX0" fmla="*/ 0 w 12192000"/>
              <a:gd name="connsiteY0" fmla="*/ 0 h 2515690"/>
              <a:gd name="connsiteX1" fmla="*/ 170442 w 12192000"/>
              <a:gd name="connsiteY1" fmla="*/ 96074 h 2515690"/>
              <a:gd name="connsiteX2" fmla="*/ 424739 w 12192000"/>
              <a:gd name="connsiteY2" fmla="*/ 224865 h 2515690"/>
              <a:gd name="connsiteX3" fmla="*/ 748273 w 12192000"/>
              <a:gd name="connsiteY3" fmla="*/ 373939 h 2515690"/>
              <a:gd name="connsiteX4" fmla="*/ 1037058 w 12192000"/>
              <a:gd name="connsiteY4" fmla="*/ 499994 h 2515690"/>
              <a:gd name="connsiteX5" fmla="*/ 1101312 w 12192000"/>
              <a:gd name="connsiteY5" fmla="*/ 428540 h 2515690"/>
              <a:gd name="connsiteX6" fmla="*/ 1367071 w 12192000"/>
              <a:gd name="connsiteY6" fmla="*/ 516118 h 2515690"/>
              <a:gd name="connsiteX7" fmla="*/ 2189943 w 12192000"/>
              <a:gd name="connsiteY7" fmla="*/ 794533 h 2515690"/>
              <a:gd name="connsiteX8" fmla="*/ 2390329 w 12192000"/>
              <a:gd name="connsiteY8" fmla="*/ 920897 h 2515690"/>
              <a:gd name="connsiteX9" fmla="*/ 2459570 w 12192000"/>
              <a:gd name="connsiteY9" fmla="*/ 983740 h 2515690"/>
              <a:gd name="connsiteX10" fmla="*/ 2503252 w 12192000"/>
              <a:gd name="connsiteY10" fmla="*/ 1000151 h 2515690"/>
              <a:gd name="connsiteX11" fmla="*/ 2503252 w 12192000"/>
              <a:gd name="connsiteY11" fmla="*/ 1008273 h 2515690"/>
              <a:gd name="connsiteX12" fmla="*/ 2511191 w 12192000"/>
              <a:gd name="connsiteY12" fmla="*/ 1009499 h 2515690"/>
              <a:gd name="connsiteX13" fmla="*/ 2565029 w 12192000"/>
              <a:gd name="connsiteY13" fmla="*/ 1015977 h 2515690"/>
              <a:gd name="connsiteX14" fmla="*/ 2593745 w 12192000"/>
              <a:gd name="connsiteY14" fmla="*/ 1019963 h 2515690"/>
              <a:gd name="connsiteX15" fmla="*/ 2591015 w 12192000"/>
              <a:gd name="connsiteY15" fmla="*/ 1019651 h 2515690"/>
              <a:gd name="connsiteX16" fmla="*/ 2590137 w 12192000"/>
              <a:gd name="connsiteY16" fmla="*/ 1019549 h 2515690"/>
              <a:gd name="connsiteX17" fmla="*/ 2589021 w 12192000"/>
              <a:gd name="connsiteY17" fmla="*/ 1019424 h 2515690"/>
              <a:gd name="connsiteX18" fmla="*/ 2591015 w 12192000"/>
              <a:gd name="connsiteY18" fmla="*/ 1019651 h 2515690"/>
              <a:gd name="connsiteX19" fmla="*/ 2602385 w 12192000"/>
              <a:gd name="connsiteY19" fmla="*/ 1020975 h 2515690"/>
              <a:gd name="connsiteX20" fmla="*/ 2614445 w 12192000"/>
              <a:gd name="connsiteY20" fmla="*/ 1022389 h 2515690"/>
              <a:gd name="connsiteX21" fmla="*/ 2614445 w 12192000"/>
              <a:gd name="connsiteY21" fmla="*/ 1020966 h 2515690"/>
              <a:gd name="connsiteX22" fmla="*/ 2676661 w 12192000"/>
              <a:gd name="connsiteY22" fmla="*/ 1029355 h 2515690"/>
              <a:gd name="connsiteX23" fmla="*/ 2788597 w 12192000"/>
              <a:gd name="connsiteY23" fmla="*/ 1048926 h 2515690"/>
              <a:gd name="connsiteX24" fmla="*/ 2812742 w 12192000"/>
              <a:gd name="connsiteY24" fmla="*/ 1057667 h 2515690"/>
              <a:gd name="connsiteX25" fmla="*/ 2970201 w 12192000"/>
              <a:gd name="connsiteY25" fmla="*/ 949091 h 2515690"/>
              <a:gd name="connsiteX26" fmla="*/ 3030610 w 12192000"/>
              <a:gd name="connsiteY26" fmla="*/ 1049340 h 2515690"/>
              <a:gd name="connsiteX27" fmla="*/ 3058913 w 12192000"/>
              <a:gd name="connsiteY27" fmla="*/ 1048085 h 2515690"/>
              <a:gd name="connsiteX28" fmla="*/ 3072697 w 12192000"/>
              <a:gd name="connsiteY28" fmla="*/ 1045316 h 2515690"/>
              <a:gd name="connsiteX29" fmla="*/ 3083305 w 12192000"/>
              <a:gd name="connsiteY29" fmla="*/ 1040550 h 2515690"/>
              <a:gd name="connsiteX30" fmla="*/ 3125603 w 12192000"/>
              <a:gd name="connsiteY30" fmla="*/ 1004583 h 2515690"/>
              <a:gd name="connsiteX31" fmla="*/ 3385106 w 12192000"/>
              <a:gd name="connsiteY31" fmla="*/ 1042233 h 2515690"/>
              <a:gd name="connsiteX32" fmla="*/ 3424945 w 12192000"/>
              <a:gd name="connsiteY32" fmla="*/ 1065268 h 2515690"/>
              <a:gd name="connsiteX33" fmla="*/ 3436948 w 12192000"/>
              <a:gd name="connsiteY33" fmla="*/ 1068018 h 2515690"/>
              <a:gd name="connsiteX34" fmla="*/ 3466714 w 12192000"/>
              <a:gd name="connsiteY34" fmla="*/ 1063419 h 2515690"/>
              <a:gd name="connsiteX35" fmla="*/ 3550909 w 12192000"/>
              <a:gd name="connsiteY35" fmla="*/ 1044511 h 2515690"/>
              <a:gd name="connsiteX36" fmla="*/ 3555900 w 12192000"/>
              <a:gd name="connsiteY36" fmla="*/ 1041996 h 2515690"/>
              <a:gd name="connsiteX37" fmla="*/ 3625978 w 12192000"/>
              <a:gd name="connsiteY37" fmla="*/ 1023459 h 2515690"/>
              <a:gd name="connsiteX38" fmla="*/ 3632465 w 12192000"/>
              <a:gd name="connsiteY38" fmla="*/ 1023522 h 2515690"/>
              <a:gd name="connsiteX39" fmla="*/ 3649063 w 12192000"/>
              <a:gd name="connsiteY39" fmla="*/ 1018726 h 2515690"/>
              <a:gd name="connsiteX40" fmla="*/ 3805954 w 12192000"/>
              <a:gd name="connsiteY40" fmla="*/ 917517 h 2515690"/>
              <a:gd name="connsiteX41" fmla="*/ 4020506 w 12192000"/>
              <a:gd name="connsiteY41" fmla="*/ 816231 h 2515690"/>
              <a:gd name="connsiteX42" fmla="*/ 4233682 w 12192000"/>
              <a:gd name="connsiteY42" fmla="*/ 799511 h 2515690"/>
              <a:gd name="connsiteX43" fmla="*/ 4306552 w 12192000"/>
              <a:gd name="connsiteY43" fmla="*/ 610207 h 2515690"/>
              <a:gd name="connsiteX44" fmla="*/ 4816604 w 12192000"/>
              <a:gd name="connsiteY44" fmla="*/ 773163 h 2515690"/>
              <a:gd name="connsiteX45" fmla="*/ 4916502 w 12192000"/>
              <a:gd name="connsiteY45" fmla="*/ 788104 h 2515690"/>
              <a:gd name="connsiteX46" fmla="*/ 5224415 w 12192000"/>
              <a:gd name="connsiteY46" fmla="*/ 674418 h 2515690"/>
              <a:gd name="connsiteX47" fmla="*/ 5274077 w 12192000"/>
              <a:gd name="connsiteY47" fmla="*/ 655978 h 2515690"/>
              <a:gd name="connsiteX48" fmla="*/ 5371217 w 12192000"/>
              <a:gd name="connsiteY48" fmla="*/ 614372 h 2515690"/>
              <a:gd name="connsiteX49" fmla="*/ 5364523 w 12192000"/>
              <a:gd name="connsiteY49" fmla="*/ 502501 h 2515690"/>
              <a:gd name="connsiteX50" fmla="*/ 5457871 w 12192000"/>
              <a:gd name="connsiteY50" fmla="*/ 558285 h 2515690"/>
              <a:gd name="connsiteX51" fmla="*/ 5750580 w 12192000"/>
              <a:gd name="connsiteY51" fmla="*/ 663503 h 2515690"/>
              <a:gd name="connsiteX52" fmla="*/ 5976618 w 12192000"/>
              <a:gd name="connsiteY52" fmla="*/ 582652 h 2515690"/>
              <a:gd name="connsiteX53" fmla="*/ 6009346 w 12192000"/>
              <a:gd name="connsiteY53" fmla="*/ 559470 h 2515690"/>
              <a:gd name="connsiteX54" fmla="*/ 6069735 w 12192000"/>
              <a:gd name="connsiteY54" fmla="*/ 587803 h 2515690"/>
              <a:gd name="connsiteX55" fmla="*/ 6270319 w 12192000"/>
              <a:gd name="connsiteY55" fmla="*/ 643982 h 2515690"/>
              <a:gd name="connsiteX56" fmla="*/ 6406781 w 12192000"/>
              <a:gd name="connsiteY56" fmla="*/ 672327 h 2515690"/>
              <a:gd name="connsiteX57" fmla="*/ 6469508 w 12192000"/>
              <a:gd name="connsiteY57" fmla="*/ 708574 h 2515690"/>
              <a:gd name="connsiteX58" fmla="*/ 6515869 w 12192000"/>
              <a:gd name="connsiteY58" fmla="*/ 715738 h 2515690"/>
              <a:gd name="connsiteX59" fmla="*/ 6725938 w 12192000"/>
              <a:gd name="connsiteY59" fmla="*/ 691128 h 2515690"/>
              <a:gd name="connsiteX60" fmla="*/ 6778240 w 12192000"/>
              <a:gd name="connsiteY60" fmla="*/ 678998 h 2515690"/>
              <a:gd name="connsiteX61" fmla="*/ 6806944 w 12192000"/>
              <a:gd name="connsiteY61" fmla="*/ 646178 h 2515690"/>
              <a:gd name="connsiteX62" fmla="*/ 6830632 w 12192000"/>
              <a:gd name="connsiteY62" fmla="*/ 633915 h 2515690"/>
              <a:gd name="connsiteX63" fmla="*/ 6858072 w 12192000"/>
              <a:gd name="connsiteY63" fmla="*/ 646178 h 2515690"/>
              <a:gd name="connsiteX64" fmla="*/ 6891322 w 12192000"/>
              <a:gd name="connsiteY64" fmla="*/ 678998 h 2515690"/>
              <a:gd name="connsiteX65" fmla="*/ 6951905 w 12192000"/>
              <a:gd name="connsiteY65" fmla="*/ 691128 h 2515690"/>
              <a:gd name="connsiteX66" fmla="*/ 7195246 w 12192000"/>
              <a:gd name="connsiteY66" fmla="*/ 715738 h 2515690"/>
              <a:gd name="connsiteX67" fmla="*/ 7248949 w 12192000"/>
              <a:gd name="connsiteY67" fmla="*/ 708574 h 2515690"/>
              <a:gd name="connsiteX68" fmla="*/ 7321609 w 12192000"/>
              <a:gd name="connsiteY68" fmla="*/ 672327 h 2515690"/>
              <a:gd name="connsiteX69" fmla="*/ 7479684 w 12192000"/>
              <a:gd name="connsiteY69" fmla="*/ 643982 h 2515690"/>
              <a:gd name="connsiteX70" fmla="*/ 7712035 w 12192000"/>
              <a:gd name="connsiteY70" fmla="*/ 587803 h 2515690"/>
              <a:gd name="connsiteX71" fmla="*/ 7781987 w 12192000"/>
              <a:gd name="connsiteY71" fmla="*/ 559470 h 2515690"/>
              <a:gd name="connsiteX72" fmla="*/ 7819900 w 12192000"/>
              <a:gd name="connsiteY72" fmla="*/ 582652 h 2515690"/>
              <a:gd name="connsiteX73" fmla="*/ 8081736 w 12192000"/>
              <a:gd name="connsiteY73" fmla="*/ 663503 h 2515690"/>
              <a:gd name="connsiteX74" fmla="*/ 8420801 w 12192000"/>
              <a:gd name="connsiteY74" fmla="*/ 558285 h 2515690"/>
              <a:gd name="connsiteX75" fmla="*/ 8528933 w 12192000"/>
              <a:gd name="connsiteY75" fmla="*/ 502501 h 2515690"/>
              <a:gd name="connsiteX76" fmla="*/ 8521178 w 12192000"/>
              <a:gd name="connsiteY76" fmla="*/ 614372 h 2515690"/>
              <a:gd name="connsiteX77" fmla="*/ 8633702 w 12192000"/>
              <a:gd name="connsiteY77" fmla="*/ 655978 h 2515690"/>
              <a:gd name="connsiteX78" fmla="*/ 8691231 w 12192000"/>
              <a:gd name="connsiteY78" fmla="*/ 674418 h 2515690"/>
              <a:gd name="connsiteX79" fmla="*/ 9047908 w 12192000"/>
              <a:gd name="connsiteY79" fmla="*/ 788104 h 2515690"/>
              <a:gd name="connsiteX80" fmla="*/ 9163628 w 12192000"/>
              <a:gd name="connsiteY80" fmla="*/ 773163 h 2515690"/>
              <a:gd name="connsiteX81" fmla="*/ 9754459 w 12192000"/>
              <a:gd name="connsiteY81" fmla="*/ 610207 h 2515690"/>
              <a:gd name="connsiteX82" fmla="*/ 9838868 w 12192000"/>
              <a:gd name="connsiteY82" fmla="*/ 799511 h 2515690"/>
              <a:gd name="connsiteX83" fmla="*/ 10085808 w 12192000"/>
              <a:gd name="connsiteY83" fmla="*/ 816231 h 2515690"/>
              <a:gd name="connsiteX84" fmla="*/ 10334338 w 12192000"/>
              <a:gd name="connsiteY84" fmla="*/ 917517 h 2515690"/>
              <a:gd name="connsiteX85" fmla="*/ 10516076 w 12192000"/>
              <a:gd name="connsiteY85" fmla="*/ 1018726 h 2515690"/>
              <a:gd name="connsiteX86" fmla="*/ 10535302 w 12192000"/>
              <a:gd name="connsiteY86" fmla="*/ 1023522 h 2515690"/>
              <a:gd name="connsiteX87" fmla="*/ 10542819 w 12192000"/>
              <a:gd name="connsiteY87" fmla="*/ 1023458 h 2515690"/>
              <a:gd name="connsiteX88" fmla="*/ 10623994 w 12192000"/>
              <a:gd name="connsiteY88" fmla="*/ 1041996 h 2515690"/>
              <a:gd name="connsiteX89" fmla="*/ 10629774 w 12192000"/>
              <a:gd name="connsiteY89" fmla="*/ 1044511 h 2515690"/>
              <a:gd name="connsiteX90" fmla="*/ 10727305 w 12192000"/>
              <a:gd name="connsiteY90" fmla="*/ 1063419 h 2515690"/>
              <a:gd name="connsiteX91" fmla="*/ 10761785 w 12192000"/>
              <a:gd name="connsiteY91" fmla="*/ 1068017 h 2515690"/>
              <a:gd name="connsiteX92" fmla="*/ 10775688 w 12192000"/>
              <a:gd name="connsiteY92" fmla="*/ 1065268 h 2515690"/>
              <a:gd name="connsiteX93" fmla="*/ 10821837 w 12192000"/>
              <a:gd name="connsiteY93" fmla="*/ 1042232 h 2515690"/>
              <a:gd name="connsiteX94" fmla="*/ 11122438 w 12192000"/>
              <a:gd name="connsiteY94" fmla="*/ 1004583 h 2515690"/>
              <a:gd name="connsiteX95" fmla="*/ 11171433 w 12192000"/>
              <a:gd name="connsiteY95" fmla="*/ 1040550 h 2515690"/>
              <a:gd name="connsiteX96" fmla="*/ 11183724 w 12192000"/>
              <a:gd name="connsiteY96" fmla="*/ 1045316 h 2515690"/>
              <a:gd name="connsiteX97" fmla="*/ 11199690 w 12192000"/>
              <a:gd name="connsiteY97" fmla="*/ 1048085 h 2515690"/>
              <a:gd name="connsiteX98" fmla="*/ 11232475 w 12192000"/>
              <a:gd name="connsiteY98" fmla="*/ 1049340 h 2515690"/>
              <a:gd name="connsiteX99" fmla="*/ 11302451 w 12192000"/>
              <a:gd name="connsiteY99" fmla="*/ 949091 h 2515690"/>
              <a:gd name="connsiteX100" fmla="*/ 11484849 w 12192000"/>
              <a:gd name="connsiteY100" fmla="*/ 1057667 h 2515690"/>
              <a:gd name="connsiteX101" fmla="*/ 11512818 w 12192000"/>
              <a:gd name="connsiteY101" fmla="*/ 1048926 h 2515690"/>
              <a:gd name="connsiteX102" fmla="*/ 11642481 w 12192000"/>
              <a:gd name="connsiteY102" fmla="*/ 1029355 h 2515690"/>
              <a:gd name="connsiteX103" fmla="*/ 11714551 w 12192000"/>
              <a:gd name="connsiteY103" fmla="*/ 1020966 h 2515690"/>
              <a:gd name="connsiteX104" fmla="*/ 11714551 w 12192000"/>
              <a:gd name="connsiteY104" fmla="*/ 1022389 h 2515690"/>
              <a:gd name="connsiteX105" fmla="*/ 11728519 w 12192000"/>
              <a:gd name="connsiteY105" fmla="*/ 1020975 h 2515690"/>
              <a:gd name="connsiteX106" fmla="*/ 11741691 w 12192000"/>
              <a:gd name="connsiteY106" fmla="*/ 1019651 h 2515690"/>
              <a:gd name="connsiteX107" fmla="*/ 11743999 w 12192000"/>
              <a:gd name="connsiteY107" fmla="*/ 1019424 h 2515690"/>
              <a:gd name="connsiteX108" fmla="*/ 11742709 w 12192000"/>
              <a:gd name="connsiteY108" fmla="*/ 1019549 h 2515690"/>
              <a:gd name="connsiteX109" fmla="*/ 11741691 w 12192000"/>
              <a:gd name="connsiteY109" fmla="*/ 1019651 h 2515690"/>
              <a:gd name="connsiteX110" fmla="*/ 11738529 w 12192000"/>
              <a:gd name="connsiteY110" fmla="*/ 1019963 h 2515690"/>
              <a:gd name="connsiteX111" fmla="*/ 11771791 w 12192000"/>
              <a:gd name="connsiteY111" fmla="*/ 1015977 h 2515690"/>
              <a:gd name="connsiteX112" fmla="*/ 11834157 w 12192000"/>
              <a:gd name="connsiteY112" fmla="*/ 1009499 h 2515690"/>
              <a:gd name="connsiteX113" fmla="*/ 11843354 w 12192000"/>
              <a:gd name="connsiteY113" fmla="*/ 1008273 h 2515690"/>
              <a:gd name="connsiteX114" fmla="*/ 11843354 w 12192000"/>
              <a:gd name="connsiteY114" fmla="*/ 1000151 h 2515690"/>
              <a:gd name="connsiteX115" fmla="*/ 11893955 w 12192000"/>
              <a:gd name="connsiteY115" fmla="*/ 983740 h 2515690"/>
              <a:gd name="connsiteX116" fmla="*/ 11974160 w 12192000"/>
              <a:gd name="connsiteY116" fmla="*/ 920897 h 2515690"/>
              <a:gd name="connsiteX117" fmla="*/ 12143531 w 12192000"/>
              <a:gd name="connsiteY117" fmla="*/ 823664 h 2515690"/>
              <a:gd name="connsiteX118" fmla="*/ 12192000 w 12192000"/>
              <a:gd name="connsiteY118" fmla="*/ 801163 h 2515690"/>
              <a:gd name="connsiteX119" fmla="*/ 12192000 w 12192000"/>
              <a:gd name="connsiteY119" fmla="*/ 2515690 h 2515690"/>
              <a:gd name="connsiteX120" fmla="*/ 0 w 12192000"/>
              <a:gd name="connsiteY120" fmla="*/ 2515690 h 25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192000" h="251569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FC878-1F2A-3FB9-9181-5189734B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606442"/>
            <a:ext cx="10515600" cy="9302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9C1B7-B723-45C4-1FBF-A596E4E6E30E}"/>
              </a:ext>
            </a:extLst>
          </p:cNvPr>
          <p:cNvSpPr txBox="1"/>
          <p:nvPr/>
        </p:nvSpPr>
        <p:spPr>
          <a:xfrm>
            <a:off x="5167086" y="62701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FBFCFB9-D4BA-F55C-1AE0-D59F0B701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892016"/>
              </p:ext>
            </p:extLst>
          </p:nvPr>
        </p:nvGraphicFramePr>
        <p:xfrm>
          <a:off x="838200" y="1919111"/>
          <a:ext cx="10515601" cy="4174135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4672104">
                  <a:extLst>
                    <a:ext uri="{9D8B030D-6E8A-4147-A177-3AD203B41FA5}">
                      <a16:colId xmlns:a16="http://schemas.microsoft.com/office/drawing/2014/main" val="3658059644"/>
                    </a:ext>
                  </a:extLst>
                </a:gridCol>
                <a:gridCol w="2974043">
                  <a:extLst>
                    <a:ext uri="{9D8B030D-6E8A-4147-A177-3AD203B41FA5}">
                      <a16:colId xmlns:a16="http://schemas.microsoft.com/office/drawing/2014/main" val="1038734269"/>
                    </a:ext>
                  </a:extLst>
                </a:gridCol>
                <a:gridCol w="2869454">
                  <a:extLst>
                    <a:ext uri="{9D8B030D-6E8A-4147-A177-3AD203B41FA5}">
                      <a16:colId xmlns:a16="http://schemas.microsoft.com/office/drawing/2014/main" val="2990011896"/>
                    </a:ext>
                  </a:extLst>
                </a:gridCol>
              </a:tblGrid>
              <a:tr h="743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0" dirty="0">
                          <a:solidFill>
                            <a:schemeClr val="bg1"/>
                          </a:solidFill>
                        </a:rPr>
                        <a:t>Experiment</a:t>
                      </a:r>
                    </a:p>
                  </a:txBody>
                  <a:tcPr marL="162130" marR="213308" marT="124715" marB="1247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</a:rPr>
                        <a:t>Mean Reward</a:t>
                      </a:r>
                    </a:p>
                  </a:txBody>
                  <a:tcPr marL="162130" marR="213308" marT="124715" marB="1247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0" dirty="0">
                          <a:solidFill>
                            <a:schemeClr val="bg1"/>
                          </a:solidFill>
                        </a:rPr>
                        <a:t>Peak Reward</a:t>
                      </a:r>
                    </a:p>
                  </a:txBody>
                  <a:tcPr marL="162130" marR="213308" marT="124715" marB="1247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09373"/>
                  </a:ext>
                </a:extLst>
              </a:tr>
              <a:tr h="571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Baseline DQN</a:t>
                      </a:r>
                    </a:p>
                  </a:txBody>
                  <a:tcPr marL="162130" marR="213308" marT="124715" marB="1247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10.23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53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390186"/>
                  </a:ext>
                </a:extLst>
              </a:tr>
              <a:tr h="571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Double DQN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45.52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216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108289"/>
                  </a:ext>
                </a:extLst>
              </a:tr>
              <a:tr h="571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DDQN + Bigger Replay</a:t>
                      </a:r>
                    </a:p>
                  </a:txBody>
                  <a:tcPr marL="162130" marR="213308" marT="124715" marB="1247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0">
                          <a:solidFill>
                            <a:schemeClr val="tx1"/>
                          </a:solidFill>
                        </a:rPr>
                        <a:t>48.52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157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259844"/>
                  </a:ext>
                </a:extLst>
              </a:tr>
              <a:tr h="571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DDQN Lower LR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38.69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176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408370"/>
                  </a:ext>
                </a:extLst>
              </a:tr>
              <a:tr h="571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DDQN Longer Exploration</a:t>
                      </a:r>
                    </a:p>
                  </a:txBody>
                  <a:tcPr marL="162130" marR="213308" marT="124715" marB="1247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21.96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109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43508"/>
                  </a:ext>
                </a:extLst>
              </a:tr>
              <a:tr h="571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DDQN Slower Sync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25.24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88</a:t>
                      </a:r>
                    </a:p>
                  </a:txBody>
                  <a:tcPr marL="162130" marR="213308" marT="124715" marB="1247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342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854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149CDF-5DAC-4860-A285-9492CF20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315C5-9B57-43E9-1649-4FA323A4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5011"/>
            <a:ext cx="3629555" cy="1889135"/>
          </a:xfrm>
        </p:spPr>
        <p:txBody>
          <a:bodyPr anchor="b">
            <a:normAutofit/>
          </a:bodyPr>
          <a:lstStyle/>
          <a:p>
            <a:r>
              <a:rPr lang="en-US" sz="4800"/>
              <a:t>Observations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CAFBCB-B803-BF47-BD64-7BC34D74C4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1966" y="2965592"/>
            <a:ext cx="3629555" cy="29873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Baseline DQN never learned meaningful behavior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DDQN showed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major improvement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after ~300k steps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Bigger Replay (30k) had the best overall performance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C833C-8670-542A-8BCE-DA33925CF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151" y="1653542"/>
            <a:ext cx="6107166" cy="354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42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B7234-CFDD-A65F-76C3-5EEE960E6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b="1"/>
              <a:t>Key Learnings</a:t>
            </a:r>
            <a:endParaRPr lang="en-US" sz="5200"/>
          </a:p>
        </p:txBody>
      </p:sp>
      <p:graphicFrame>
        <p:nvGraphicFramePr>
          <p:cNvPr id="39" name="Rectangle 2">
            <a:extLst>
              <a:ext uri="{FF2B5EF4-FFF2-40B4-BE49-F238E27FC236}">
                <a16:creationId xmlns:a16="http://schemas.microsoft.com/office/drawing/2014/main" id="{70088DE9-0ECF-AF0E-3EAA-5D03B9AA6A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85080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6431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3008</TotalTime>
  <Words>516</Words>
  <Application>Microsoft Macintosh PowerPoint</Application>
  <PresentationFormat>Widescreen</PresentationFormat>
  <Paragraphs>98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Deep Q-Learning on Frogger: DQN vs Double DQN</vt:lpstr>
      <vt:lpstr>Project Goal</vt:lpstr>
      <vt:lpstr>Why Frogger?</vt:lpstr>
      <vt:lpstr>Environment Setup</vt:lpstr>
      <vt:lpstr>Method</vt:lpstr>
      <vt:lpstr>Model Architecture</vt:lpstr>
      <vt:lpstr>Double DQN </vt:lpstr>
      <vt:lpstr>Experiments:</vt:lpstr>
      <vt:lpstr>Results</vt:lpstr>
      <vt:lpstr>Observations</vt:lpstr>
      <vt:lpstr>Key 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Anushka Patwa</dc:creator>
  <cp:lastModifiedBy>Anushka Patwa</cp:lastModifiedBy>
  <cp:revision>6</cp:revision>
  <dcterms:created xsi:type="dcterms:W3CDTF">2025-11-28T03:29:09Z</dcterms:created>
  <dcterms:modified xsi:type="dcterms:W3CDTF">2025-11-30T06:06:29Z</dcterms:modified>
</cp:coreProperties>
</file>